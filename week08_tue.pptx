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3_AA6C2DB2.xml" ContentType="application/vnd.ms-powerpoint.comments+xml"/>
  <Override PartName="/ppt/comments/modernComment_104_CF41E238.xml" ContentType="application/vnd.ms-powerpoint.comments+xml"/>
  <Override PartName="/ppt/comments/modernComment_105_8947C9EB.xml" ContentType="application/vnd.ms-powerpoint.comments+xml"/>
  <Override PartName="/ppt/comments/modernComment_10B_E23A2B36.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7" r:id="rId21"/>
    <p:sldId id="276" r:id="rId22"/>
    <p:sldId id="27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0F672F-C33A-36C8-B715-530CDD989C04}" name="Fahmida Hamid" initials="FH" userId="S::fhamid@callutheran.edu::575dc0a0-3c6d-400f-847b-a75a38d7fed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omments/modernComment_10B_E23A2B36.xml><?xml version="1.0" encoding="utf-8"?>
<p188:cmLst xmlns:a="http://schemas.openxmlformats.org/drawingml/2006/main" xmlns:r="http://schemas.openxmlformats.org/officeDocument/2006/relationships" xmlns:p188="http://schemas.microsoft.com/office/powerpoint/2018/8/main">
  <p188:cm id="{3912FD5B-2A4D-294E-85FD-3E566D4BBCA5}" authorId="{D20F672F-C33A-36C8-B715-530CDD989C04}" created="2026-10-13T16:37:35.603">
    <ac:deMkLst xmlns:ac="http://schemas.microsoft.com/office/drawing/2013/main/command">
      <pc:docMk xmlns:pc="http://schemas.microsoft.com/office/powerpoint/2013/main/command"/>
      <pc:sldMk xmlns:pc="http://schemas.microsoft.com/office/powerpoint/2013/main/command" cId="3795462966" sldId="267"/>
      <ac:spMk id="3" creationId="{896DDA22-4DCC-8A40-205C-3705E8D3D603}"/>
    </ac:deMkLst>
    <p188:txBody>
      <a:bodyPr/>
      <a:lstStyle/>
      <a:p>
        <a:r>
          <a:rPr lang="en-US"/>
          <a:t>Our GUI contains components such as labels, buttons, and text fields. JavaFX calls these controls. We arrange them using layout containers such as VBox</a:t>
        </a:r>
      </a:p>
    </p188:txBody>
  </p188:cm>
</p188:cmLst>
</file>

<file path=ppt/comments/modernComment_103_AA6C2DB2.xml><?xml version="1.0" encoding="utf-8"?>
<p188:cmLst xmlns:a="http://schemas.openxmlformats.org/drawingml/2006/main" xmlns:r="http://schemas.openxmlformats.org/officeDocument/2006/relationships" xmlns:p188="http://schemas.microsoft.com/office/powerpoint/2018/8/main">
  <p188:cm id="{897017E5-82C2-DF44-A44A-45F5CE1A40D9}" authorId="{D20F672F-C33A-36C8-B715-530CDD989C04}" created="2026-10-13T13:46:35.129">
    <ac:deMkLst xmlns:ac="http://schemas.microsoft.com/office/drawing/2013/main/command">
      <pc:docMk xmlns:pc="http://schemas.microsoft.com/office/powerpoint/2013/main/command"/>
      <pc:sldMk xmlns:pc="http://schemas.microsoft.com/office/powerpoint/2013/main/command" cId="2859216306" sldId="259"/>
      <ac:spMk id="3" creationId="{D39B6108-2F5E-0C8F-A66A-D7DEA422D752}"/>
    </ac:deMkLst>
    <p188:txBody>
      <a:bodyPr/>
      <a:lstStyle/>
      <a:p>
        <a:r>
          <a:rPr lang="en-US"/>
          <a:t>Java GUI development began with AWT, expanded with Swing, and later introduced JavaFX. These toolkits offer different ways to build interfaces, but our underlying Java code—classes, collections, file processing, and methods—still performs the application’s work. We’ll use JavaFX to connect that familiar code to an interactive interface
</a:t>
        </a:r>
      </a:p>
    </p188:txBody>
  </p188:cm>
</p188:cmLst>
</file>

<file path=ppt/comments/modernComment_104_CF41E238.xml><?xml version="1.0" encoding="utf-8"?>
<p188:cmLst xmlns:a="http://schemas.openxmlformats.org/drawingml/2006/main" xmlns:r="http://schemas.openxmlformats.org/officeDocument/2006/relationships" xmlns:p188="http://schemas.microsoft.com/office/powerpoint/2018/8/main">
  <p188:cm id="{36A172F4-4E77-6542-A7B6-87004700694F}" authorId="{D20F672F-C33A-36C8-B715-530CDD989C04}" created="2026-10-13T13:49:55.712">
    <ac:deMkLst xmlns:ac="http://schemas.microsoft.com/office/drawing/2013/main/command">
      <pc:docMk xmlns:pc="http://schemas.microsoft.com/office/powerpoint/2013/main/command"/>
      <pc:sldMk xmlns:pc="http://schemas.microsoft.com/office/powerpoint/2013/main/command" cId="3477201464" sldId="260"/>
      <ac:spMk id="2" creationId="{5076E716-3609-3794-CAA0-A9618A4AB639}"/>
    </ac:deMkLst>
    <p188:txBody>
      <a:bodyPr/>
      <a:lstStyle/>
      <a:p>
        <a:r>
          <a:rPr lang="en-US"/>
          <a:t>SDK stands for Software Development Kit. It is a collection of tools and libraries used to develop applications for a particular platform or technology.
An SDK typically includes libraries, development tools, documentation, and examples.
- JDK (Java Development Kit): Java’s SDK; includes the compiler (javac), runtime, and standard libraries.
- JavaFX SDK: Includes JavaFX modules and native libraries for building and running JavaFX applications.</a:t>
        </a:r>
      </a:p>
    </p188:txBody>
  </p188:cm>
</p188:cmLst>
</file>

<file path=ppt/comments/modernComment_105_8947C9EB.xml><?xml version="1.0" encoding="utf-8"?>
<p188:cmLst xmlns:a="http://schemas.openxmlformats.org/drawingml/2006/main" xmlns:r="http://schemas.openxmlformats.org/officeDocument/2006/relationships" xmlns:p188="http://schemas.microsoft.com/office/powerpoint/2018/8/main">
  <p188:cm id="{5761DF5B-9DB7-794B-A698-5E8BF5E1E903}" authorId="{D20F672F-C33A-36C8-B715-530CDD989C04}" created="2026-10-13T13:52:15.642">
    <ac:deMkLst xmlns:ac="http://schemas.microsoft.com/office/drawing/2013/main/command">
      <pc:docMk xmlns:pc="http://schemas.microsoft.com/office/powerpoint/2013/main/command"/>
      <pc:sldMk xmlns:pc="http://schemas.microsoft.com/office/powerpoint/2013/main/command" cId="2303183339" sldId="261"/>
      <ac:spMk id="2" creationId="{08CCD1D5-3A19-2A4E-AD19-957423920ABF}"/>
    </ac:deMkLst>
    <p188:replyLst>
      <p188:reply id="{DAB33BC2-7B07-F049-BE9B-EEB90325087C}" authorId="{D20F672F-C33A-36C8-B715-530CDD989C04}" created="2026-10-13T13:52:42.478">
        <p188:txBody>
          <a:bodyPr/>
          <a:lstStyle/>
          <a:p>
            <a:r>
              <a:rPr lang="en-US"/>
              <a:t>Maven manages the libraries and build steps our Java project needs; pom.xml describes those requirements</a:t>
            </a:r>
          </a:p>
        </p188:txBody>
      </p188:reply>
    </p188:replyLst>
    <p188:txBody>
      <a:bodyPr/>
      <a:lstStyle/>
      <a:p>
        <a:r>
          <a:rPr lang="en-US"/>
          <a:t>•In our project, Maven downloads the required JavaFX dependencies, so we don’t need to install the JavaFX SDK separately.
</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306A3-C69F-1B99-B0E7-FE17F55E51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9547A3-D968-A30D-6B7E-4BB8FFD0D8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B5D570-912C-AE95-CE2A-4A1A644EC7B7}"/>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5" name="Footer Placeholder 4">
            <a:extLst>
              <a:ext uri="{FF2B5EF4-FFF2-40B4-BE49-F238E27FC236}">
                <a16:creationId xmlns:a16="http://schemas.microsoft.com/office/drawing/2014/main" id="{C0F043EB-F098-07E8-3267-AF7F596356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601ED9-9BD8-D3B9-FECD-FC177973C6D5}"/>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1963621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77461-BA92-5D9B-007E-4BBD950A7C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0CAC86-6CFE-D464-4FDB-0CBF344780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A1D98A-F874-ADF8-D614-A85539C74C63}"/>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5" name="Footer Placeholder 4">
            <a:extLst>
              <a:ext uri="{FF2B5EF4-FFF2-40B4-BE49-F238E27FC236}">
                <a16:creationId xmlns:a16="http://schemas.microsoft.com/office/drawing/2014/main" id="{C7A2362C-42F9-4253-E0B8-3EA093B8AB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BE28FE-84A4-3A47-C46D-AD5EA8BAF703}"/>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2083866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F534A-8459-FBA2-CE87-249ADA2CB1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FDA5FC-9B4C-E52A-5146-A9540899F5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71992A-B736-87A7-75C6-92AD15496462}"/>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5" name="Footer Placeholder 4">
            <a:extLst>
              <a:ext uri="{FF2B5EF4-FFF2-40B4-BE49-F238E27FC236}">
                <a16:creationId xmlns:a16="http://schemas.microsoft.com/office/drawing/2014/main" id="{513E5528-A144-F350-6B3C-815C4AB1DF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5C83C5-2D9A-C9E5-A61D-A77A0CA1199F}"/>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2809809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65CF-FF8A-94E2-E1BA-42C6BE07C6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F73EFD-564F-43CF-C37B-3056DD7F83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4C90F2-3141-7567-FF11-3CEB2DD064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E7B48E9-C06B-54C5-34B0-0741D8D46D32}"/>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6" name="Footer Placeholder 5">
            <a:extLst>
              <a:ext uri="{FF2B5EF4-FFF2-40B4-BE49-F238E27FC236}">
                <a16:creationId xmlns:a16="http://schemas.microsoft.com/office/drawing/2014/main" id="{02D07BFB-C507-FFDD-BBBA-764D783ECE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3CD730-083B-7432-BCF8-530D87A979EC}"/>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574768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ECD52-D297-DAD9-FDA0-26B67CAF30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79D6DB-304B-5985-2D00-65BA97FAD0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1638B7-92B6-5522-D176-61E0CFF794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A04DFE-E919-AF84-3CDB-17537F398D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18E3B5-BADB-7FC0-E895-44F533429E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ECC50C-BED8-C163-9057-FE0A69E309D5}"/>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8" name="Footer Placeholder 7">
            <a:extLst>
              <a:ext uri="{FF2B5EF4-FFF2-40B4-BE49-F238E27FC236}">
                <a16:creationId xmlns:a16="http://schemas.microsoft.com/office/drawing/2014/main" id="{5C594276-09AB-C98E-6B67-5BD1232235D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30004B-2776-95F3-D38C-208A8002E68C}"/>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3417110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C112-64EC-96E7-2106-04302AB4E0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A4D519-E6A3-03CB-6CDF-3945EB16F62B}"/>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4" name="Footer Placeholder 3">
            <a:extLst>
              <a:ext uri="{FF2B5EF4-FFF2-40B4-BE49-F238E27FC236}">
                <a16:creationId xmlns:a16="http://schemas.microsoft.com/office/drawing/2014/main" id="{9F7C3993-2042-2BA2-63C0-F3205CB06D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F14046-4B29-5976-859D-ECCBDE5DB8DE}"/>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2305214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311737-E30D-270D-FC2D-7C25EA3D6FF5}"/>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3" name="Footer Placeholder 2">
            <a:extLst>
              <a:ext uri="{FF2B5EF4-FFF2-40B4-BE49-F238E27FC236}">
                <a16:creationId xmlns:a16="http://schemas.microsoft.com/office/drawing/2014/main" id="{28DD7A7E-89B0-3F91-5632-814B0AEFE1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CF7C06-EDDB-B0F8-CEF9-3A57E4598ABB}"/>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885256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CFEA9-B87B-858F-949B-933A526A06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BACAFF-AA63-9BD8-2811-9BC502543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C9C3A8-E9AB-137B-E28F-8CC0C2A18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A90E40-A8C5-5E74-CCA5-8E8541B228B0}"/>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6" name="Footer Placeholder 5">
            <a:extLst>
              <a:ext uri="{FF2B5EF4-FFF2-40B4-BE49-F238E27FC236}">
                <a16:creationId xmlns:a16="http://schemas.microsoft.com/office/drawing/2014/main" id="{0F54D05A-1EE4-8E33-CD82-11B2EAD4D6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6FC0C7-027B-D017-1518-596864B73B4D}"/>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426805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20176-7039-767C-A7CA-E8295164A3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6F0FC45-DFD2-B917-B6BB-323C687F54D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F29416-B75E-2304-32B9-5ED795FB6D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B93CEC-7ACB-9D26-7230-375A90D22583}"/>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6" name="Footer Placeholder 5">
            <a:extLst>
              <a:ext uri="{FF2B5EF4-FFF2-40B4-BE49-F238E27FC236}">
                <a16:creationId xmlns:a16="http://schemas.microsoft.com/office/drawing/2014/main" id="{93502054-E8AF-F017-D1B2-0931F99C49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4780D7-5F03-6BCD-A976-F3E0D1C28AB3}"/>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3089738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8CC3B-CEDF-9B7C-4ACC-1532D721EB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A5D2E0-81B1-51A9-A6BA-387815D935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D97453-A61E-8275-E982-387E8C3C1099}"/>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5" name="Footer Placeholder 4">
            <a:extLst>
              <a:ext uri="{FF2B5EF4-FFF2-40B4-BE49-F238E27FC236}">
                <a16:creationId xmlns:a16="http://schemas.microsoft.com/office/drawing/2014/main" id="{813E1C70-A243-9086-5A47-C4B8F9B4B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02574D-D7CD-D9C2-855B-A2ACEEE3D6A7}"/>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1302996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DB0370-DFFA-BF48-183E-BF7BEA104B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5525DE7-E604-DDBA-89B6-4F67C4E690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1D5EE1-05FF-CE5C-85C6-8083055A2BA1}"/>
              </a:ext>
            </a:extLst>
          </p:cNvPr>
          <p:cNvSpPr>
            <a:spLocks noGrp="1"/>
          </p:cNvSpPr>
          <p:nvPr>
            <p:ph type="dt" sz="half" idx="10"/>
          </p:nvPr>
        </p:nvSpPr>
        <p:spPr/>
        <p:txBody>
          <a:bodyPr/>
          <a:lstStyle/>
          <a:p>
            <a:fld id="{E2047F64-7B56-6F49-88F9-0A6E2DF507CB}" type="datetimeFigureOut">
              <a:rPr lang="en-US" smtClean="0"/>
              <a:t>10/13/26</a:t>
            </a:fld>
            <a:endParaRPr lang="en-US"/>
          </a:p>
        </p:txBody>
      </p:sp>
      <p:sp>
        <p:nvSpPr>
          <p:cNvPr id="5" name="Footer Placeholder 4">
            <a:extLst>
              <a:ext uri="{FF2B5EF4-FFF2-40B4-BE49-F238E27FC236}">
                <a16:creationId xmlns:a16="http://schemas.microsoft.com/office/drawing/2014/main" id="{2E0560AC-F57E-D651-0028-42998EB598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0F9801-DABC-F600-AD4A-D1458B9A7CB6}"/>
              </a:ext>
            </a:extLst>
          </p:cNvPr>
          <p:cNvSpPr>
            <a:spLocks noGrp="1"/>
          </p:cNvSpPr>
          <p:nvPr>
            <p:ph type="sldNum" sz="quarter" idx="12"/>
          </p:nvPr>
        </p:nvSpPr>
        <p:spPr/>
        <p:txBody>
          <a:bodyPr/>
          <a:lstStyle/>
          <a:p>
            <a:fld id="{F2C16AAE-EE23-9745-95AF-417B89E86C8E}" type="slidenum">
              <a:rPr lang="en-US" smtClean="0"/>
              <a:t>‹#›</a:t>
            </a:fld>
            <a:endParaRPr lang="en-US"/>
          </a:p>
        </p:txBody>
      </p:sp>
    </p:spTree>
    <p:extLst>
      <p:ext uri="{BB962C8B-B14F-4D97-AF65-F5344CB8AC3E}">
        <p14:creationId xmlns:p14="http://schemas.microsoft.com/office/powerpoint/2010/main" val="2241468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9C4557-0EDE-85E1-8F53-A60175382B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4F7C22-ACE2-BA24-B7A8-0295E8193A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172AF3-A548-011F-7A3F-A4D138BED3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047F64-7B56-6F49-88F9-0A6E2DF507CB}" type="datetimeFigureOut">
              <a:rPr lang="en-US" smtClean="0"/>
              <a:t>10/13/26</a:t>
            </a:fld>
            <a:endParaRPr lang="en-US"/>
          </a:p>
        </p:txBody>
      </p:sp>
      <p:sp>
        <p:nvSpPr>
          <p:cNvPr id="5" name="Footer Placeholder 4">
            <a:extLst>
              <a:ext uri="{FF2B5EF4-FFF2-40B4-BE49-F238E27FC236}">
                <a16:creationId xmlns:a16="http://schemas.microsoft.com/office/drawing/2014/main" id="{9986F919-FB60-CDF8-C1A9-3DE53576CE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3A7A614-EE94-3E42-6190-ED7A04F876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C16AAE-EE23-9745-95AF-417B89E86C8E}" type="slidenum">
              <a:rPr lang="en-US" smtClean="0"/>
              <a:t>‹#›</a:t>
            </a:fld>
            <a:endParaRPr lang="en-US"/>
          </a:p>
        </p:txBody>
      </p:sp>
    </p:spTree>
    <p:extLst>
      <p:ext uri="{BB962C8B-B14F-4D97-AF65-F5344CB8AC3E}">
        <p14:creationId xmlns:p14="http://schemas.microsoft.com/office/powerpoint/2010/main" val="2275297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ev.java/learn/javafx/" TargetMode="External"/><Relationship Id="rId2" Type="http://schemas.openxmlformats.org/officeDocument/2006/relationships/hyperlink" Target="https://openjfx.io/" TargetMode="External"/><Relationship Id="rId1" Type="http://schemas.openxmlformats.org/officeDocument/2006/relationships/slideLayout" Target="../slideLayouts/slideLayout2.xml"/><Relationship Id="rId5" Type="http://schemas.openxmlformats.org/officeDocument/2006/relationships/hyperlink" Target="https://www.geeksforgeeks.org/java/javafx-tutorial/" TargetMode="External"/><Relationship Id="rId4" Type="http://schemas.openxmlformats.org/officeDocument/2006/relationships/hyperlink" Target="https://openjfx.io/javadoc/25/javafx.graphics/javafx/scene/Node.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microsoft.com/office/2018/10/relationships/comments" Target="../comments/modernComment_103_AA6C2DB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4_CF41E238.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5_8947C9EB.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0B_E23A2B3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FB2BD-709E-B42C-7A2A-01BE4566F5AF}"/>
              </a:ext>
            </a:extLst>
          </p:cNvPr>
          <p:cNvSpPr>
            <a:spLocks noGrp="1"/>
          </p:cNvSpPr>
          <p:nvPr>
            <p:ph type="ctrTitle"/>
          </p:nvPr>
        </p:nvSpPr>
        <p:spPr/>
        <p:txBody>
          <a:bodyPr/>
          <a:lstStyle/>
          <a:p>
            <a:r>
              <a:rPr lang="en-US" dirty="0"/>
              <a:t>GUIs, JavaFX, &amp; </a:t>
            </a:r>
            <a:br>
              <a:rPr lang="en-US" dirty="0"/>
            </a:br>
            <a:r>
              <a:rPr lang="en-US" dirty="0"/>
              <a:t>Event Driven Programming</a:t>
            </a:r>
          </a:p>
        </p:txBody>
      </p:sp>
      <p:sp>
        <p:nvSpPr>
          <p:cNvPr id="3" name="Subtitle 2">
            <a:extLst>
              <a:ext uri="{FF2B5EF4-FFF2-40B4-BE49-F238E27FC236}">
                <a16:creationId xmlns:a16="http://schemas.microsoft.com/office/drawing/2014/main" id="{C6F8CB50-CA19-499F-ADC8-278D8C39F45E}"/>
              </a:ext>
            </a:extLst>
          </p:cNvPr>
          <p:cNvSpPr>
            <a:spLocks noGrp="1"/>
          </p:cNvSpPr>
          <p:nvPr>
            <p:ph type="subTitle" idx="1"/>
          </p:nvPr>
        </p:nvSpPr>
        <p:spPr/>
        <p:txBody>
          <a:bodyPr/>
          <a:lstStyle/>
          <a:p>
            <a:r>
              <a:rPr lang="en-US" dirty="0"/>
              <a:t>F. Hamid</a:t>
            </a:r>
          </a:p>
        </p:txBody>
      </p:sp>
    </p:spTree>
    <p:extLst>
      <p:ext uri="{BB962C8B-B14F-4D97-AF65-F5344CB8AC3E}">
        <p14:creationId xmlns:p14="http://schemas.microsoft.com/office/powerpoint/2010/main" val="3609044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1774-457C-9EB1-3C81-E02EE7FA75D8}"/>
              </a:ext>
            </a:extLst>
          </p:cNvPr>
          <p:cNvSpPr>
            <a:spLocks noGrp="1"/>
          </p:cNvSpPr>
          <p:nvPr>
            <p:ph type="title"/>
          </p:nvPr>
        </p:nvSpPr>
        <p:spPr/>
        <p:txBody>
          <a:bodyPr/>
          <a:lstStyle/>
          <a:p>
            <a:r>
              <a:rPr lang="en-US" dirty="0"/>
              <a:t>Sources</a:t>
            </a:r>
          </a:p>
        </p:txBody>
      </p:sp>
      <p:sp>
        <p:nvSpPr>
          <p:cNvPr id="3" name="Content Placeholder 2">
            <a:extLst>
              <a:ext uri="{FF2B5EF4-FFF2-40B4-BE49-F238E27FC236}">
                <a16:creationId xmlns:a16="http://schemas.microsoft.com/office/drawing/2014/main" id="{654E6D2E-DB4D-5A19-B2B1-69EFDEB9398E}"/>
              </a:ext>
            </a:extLst>
          </p:cNvPr>
          <p:cNvSpPr>
            <a:spLocks noGrp="1"/>
          </p:cNvSpPr>
          <p:nvPr>
            <p:ph idx="1"/>
          </p:nvPr>
        </p:nvSpPr>
        <p:spPr/>
        <p:txBody>
          <a:bodyPr>
            <a:normAutofit lnSpcReduction="10000"/>
          </a:bodyPr>
          <a:lstStyle/>
          <a:p>
            <a:pPr marL="0" indent="0">
              <a:buNone/>
            </a:pPr>
            <a:endParaRPr lang="en-US" dirty="0"/>
          </a:p>
          <a:p>
            <a:r>
              <a:rPr lang="en-US" dirty="0">
                <a:hlinkClick r:id="rId2"/>
              </a:rPr>
              <a:t>https://openjfx.io/</a:t>
            </a:r>
            <a:endParaRPr lang="en-US" dirty="0"/>
          </a:p>
          <a:p>
            <a:endParaRPr lang="en-US" dirty="0"/>
          </a:p>
          <a:p>
            <a:r>
              <a:rPr lang="en-US" dirty="0">
                <a:hlinkClick r:id="rId3"/>
              </a:rPr>
              <a:t>https://dev.java/learn/javafx/</a:t>
            </a:r>
            <a:endParaRPr lang="en-US" dirty="0"/>
          </a:p>
          <a:p>
            <a:endParaRPr lang="en-US" dirty="0"/>
          </a:p>
          <a:p>
            <a:r>
              <a:rPr lang="en-US" dirty="0">
                <a:hlinkClick r:id="rId4"/>
              </a:rPr>
              <a:t>https://openjfx.io/javadoc/25/javafx.graphics/javafx/scene/Node.html</a:t>
            </a:r>
            <a:endParaRPr lang="en-US" dirty="0"/>
          </a:p>
          <a:p>
            <a:endParaRPr lang="en-US" dirty="0"/>
          </a:p>
          <a:p>
            <a:r>
              <a:rPr lang="en-US" dirty="0">
                <a:hlinkClick r:id="rId5"/>
              </a:rPr>
              <a:t>https://www.geeksforgeeks.org/java/javafx-tutorial/</a:t>
            </a: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132885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EAD79-6269-1613-613F-EEB86A944B26}"/>
              </a:ext>
            </a:extLst>
          </p:cNvPr>
          <p:cNvSpPr>
            <a:spLocks noGrp="1"/>
          </p:cNvSpPr>
          <p:nvPr>
            <p:ph type="title"/>
          </p:nvPr>
        </p:nvSpPr>
        <p:spPr/>
        <p:txBody>
          <a:bodyPr/>
          <a:lstStyle/>
          <a:p>
            <a:r>
              <a:rPr lang="en-US" dirty="0"/>
              <a:t>GUI: </a:t>
            </a:r>
            <a:r>
              <a:rPr lang="en-US" sz="2000" dirty="0"/>
              <a:t>to arrange visual components and respond to user events. </a:t>
            </a:r>
          </a:p>
        </p:txBody>
      </p:sp>
      <p:sp>
        <p:nvSpPr>
          <p:cNvPr id="3" name="Content Placeholder 2">
            <a:extLst>
              <a:ext uri="{FF2B5EF4-FFF2-40B4-BE49-F238E27FC236}">
                <a16:creationId xmlns:a16="http://schemas.microsoft.com/office/drawing/2014/main" id="{72D701CF-57F7-F4CC-6C86-EBB49289827A}"/>
              </a:ext>
            </a:extLst>
          </p:cNvPr>
          <p:cNvSpPr>
            <a:spLocks noGrp="1"/>
          </p:cNvSpPr>
          <p:nvPr>
            <p:ph idx="1"/>
          </p:nvPr>
        </p:nvSpPr>
        <p:spPr/>
        <p:txBody>
          <a:bodyPr/>
          <a:lstStyle/>
          <a:p>
            <a:r>
              <a:rPr lang="en-US" dirty="0"/>
              <a:t>Java offers several toolkits for building </a:t>
            </a:r>
            <a:r>
              <a:rPr lang="en-US" b="1" dirty="0"/>
              <a:t>graphical user interfaces (GUIs)</a:t>
            </a:r>
            <a:r>
              <a:rPr lang="en-US" dirty="0"/>
              <a:t>:</a:t>
            </a:r>
          </a:p>
          <a:p>
            <a:pPr lvl="1"/>
            <a:r>
              <a:rPr lang="en-US" b="1" dirty="0"/>
              <a:t>AWT — Abstract Window Toolkit: </a:t>
            </a:r>
          </a:p>
          <a:p>
            <a:pPr lvl="2"/>
            <a:r>
              <a:rPr lang="en-US" dirty="0"/>
              <a:t>Java’s original GUI toolkit. </a:t>
            </a:r>
          </a:p>
          <a:p>
            <a:pPr lvl="2"/>
            <a:r>
              <a:rPr lang="en-US" dirty="0"/>
              <a:t>It Provides windows, buttons, text fields, layouts, and event handling. </a:t>
            </a:r>
          </a:p>
          <a:p>
            <a:pPr lvl="2"/>
            <a:r>
              <a:rPr lang="en-US" dirty="0"/>
              <a:t>Many components use the operating system’s native controls.</a:t>
            </a:r>
          </a:p>
          <a:p>
            <a:pPr lvl="1"/>
            <a:r>
              <a:rPr lang="en-US" b="1" dirty="0"/>
              <a:t>Swing:</a:t>
            </a:r>
          </a:p>
          <a:p>
            <a:pPr lvl="2"/>
            <a:r>
              <a:rPr lang="en-US" dirty="0"/>
              <a:t>Builds on AWT and provides a richer set of components, such as </a:t>
            </a:r>
            <a:r>
              <a:rPr lang="en-US" dirty="0" err="1"/>
              <a:t>JButton</a:t>
            </a:r>
            <a:r>
              <a:rPr lang="en-US" dirty="0"/>
              <a:t>, </a:t>
            </a:r>
            <a:r>
              <a:rPr lang="en-US" dirty="0" err="1"/>
              <a:t>JTable</a:t>
            </a:r>
            <a:r>
              <a:rPr lang="en-US" dirty="0"/>
              <a:t>, and </a:t>
            </a:r>
            <a:r>
              <a:rPr lang="en-US" dirty="0" err="1"/>
              <a:t>JTextArea</a:t>
            </a:r>
            <a:r>
              <a:rPr lang="en-US" dirty="0"/>
              <a:t>.</a:t>
            </a:r>
          </a:p>
          <a:p>
            <a:pPr lvl="2"/>
            <a:r>
              <a:rPr lang="en-US" dirty="0"/>
              <a:t> Most components are drawn by Java, allowing more customizable appearances.</a:t>
            </a:r>
          </a:p>
        </p:txBody>
      </p:sp>
    </p:spTree>
    <p:extLst>
      <p:ext uri="{BB962C8B-B14F-4D97-AF65-F5344CB8AC3E}">
        <p14:creationId xmlns:p14="http://schemas.microsoft.com/office/powerpoint/2010/main" val="3593356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0485E-2FED-29E4-F106-7BE4CE4D8A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528CE-47CD-451A-1BF7-B9194E124F60}"/>
              </a:ext>
            </a:extLst>
          </p:cNvPr>
          <p:cNvSpPr>
            <a:spLocks noGrp="1"/>
          </p:cNvSpPr>
          <p:nvPr>
            <p:ph type="title"/>
          </p:nvPr>
        </p:nvSpPr>
        <p:spPr/>
        <p:txBody>
          <a:bodyPr/>
          <a:lstStyle/>
          <a:p>
            <a:r>
              <a:rPr lang="en-US" dirty="0"/>
              <a:t>GUI: </a:t>
            </a:r>
            <a:r>
              <a:rPr lang="en-US" sz="2000" dirty="0"/>
              <a:t>to arrange visual components and respond to user events. </a:t>
            </a:r>
          </a:p>
        </p:txBody>
      </p:sp>
      <p:sp>
        <p:nvSpPr>
          <p:cNvPr id="3" name="Content Placeholder 2">
            <a:extLst>
              <a:ext uri="{FF2B5EF4-FFF2-40B4-BE49-F238E27FC236}">
                <a16:creationId xmlns:a16="http://schemas.microsoft.com/office/drawing/2014/main" id="{D39B6108-2F5E-0C8F-A66A-D7DEA422D752}"/>
              </a:ext>
            </a:extLst>
          </p:cNvPr>
          <p:cNvSpPr>
            <a:spLocks noGrp="1"/>
          </p:cNvSpPr>
          <p:nvPr>
            <p:ph idx="1"/>
          </p:nvPr>
        </p:nvSpPr>
        <p:spPr/>
        <p:txBody>
          <a:bodyPr/>
          <a:lstStyle/>
          <a:p>
            <a:endParaRPr lang="en-US" dirty="0"/>
          </a:p>
          <a:p>
            <a:r>
              <a:rPr lang="en-US" dirty="0"/>
              <a:t>Java offers several toolkits for building </a:t>
            </a:r>
            <a:r>
              <a:rPr lang="en-US" b="1" dirty="0"/>
              <a:t>graphical user interfaces (GUIs)</a:t>
            </a:r>
            <a:r>
              <a:rPr lang="en-US" dirty="0"/>
              <a:t>:</a:t>
            </a:r>
          </a:p>
          <a:p>
            <a:pPr lvl="1"/>
            <a:r>
              <a:rPr lang="en-US" b="1" dirty="0"/>
              <a:t>JavaFX: </a:t>
            </a:r>
            <a:r>
              <a:rPr lang="en-US" dirty="0"/>
              <a:t>A newer toolkit with a scene graph, CSS styling, properties and bindings, animation, and optional FXML for defining interfaces. Uses classes such as Stage, Scene, and Button.</a:t>
            </a:r>
          </a:p>
        </p:txBody>
      </p:sp>
    </p:spTree>
    <p:extLst>
      <p:ext uri="{BB962C8B-B14F-4D97-AF65-F5344CB8AC3E}">
        <p14:creationId xmlns:p14="http://schemas.microsoft.com/office/powerpoint/2010/main" val="2859216306"/>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E716-3609-3794-CAA0-A9618A4AB639}"/>
              </a:ext>
            </a:extLst>
          </p:cNvPr>
          <p:cNvSpPr>
            <a:spLocks noGrp="1"/>
          </p:cNvSpPr>
          <p:nvPr>
            <p:ph type="title"/>
          </p:nvPr>
        </p:nvSpPr>
        <p:spPr/>
        <p:txBody>
          <a:bodyPr/>
          <a:lstStyle/>
          <a:p>
            <a:r>
              <a:rPr lang="en-US" dirty="0"/>
              <a:t>JavaFX</a:t>
            </a:r>
          </a:p>
        </p:txBody>
      </p:sp>
      <p:sp>
        <p:nvSpPr>
          <p:cNvPr id="3" name="Content Placeholder 2">
            <a:extLst>
              <a:ext uri="{FF2B5EF4-FFF2-40B4-BE49-F238E27FC236}">
                <a16:creationId xmlns:a16="http://schemas.microsoft.com/office/drawing/2014/main" id="{6B29CD73-1FC3-1305-D168-22C6953CC9BE}"/>
              </a:ext>
            </a:extLst>
          </p:cNvPr>
          <p:cNvSpPr>
            <a:spLocks noGrp="1"/>
          </p:cNvSpPr>
          <p:nvPr>
            <p:ph idx="1"/>
          </p:nvPr>
        </p:nvSpPr>
        <p:spPr/>
        <p:txBody>
          <a:bodyPr/>
          <a:lstStyle/>
          <a:p>
            <a:endParaRPr lang="en-US" dirty="0"/>
          </a:p>
          <a:p>
            <a:r>
              <a:rPr lang="en-US" dirty="0"/>
              <a:t>AWT and Swing are included in the standard JDK; JavaFX is supplied separately.</a:t>
            </a:r>
          </a:p>
          <a:p>
            <a:endParaRPr lang="en-US" dirty="0"/>
          </a:p>
          <a:p>
            <a:r>
              <a:rPr lang="en-US" b="1" dirty="0"/>
              <a:t>JavaFX is best described as a GUI framework, delivered as a collection of libraries.</a:t>
            </a:r>
            <a:r>
              <a:rPr lang="en-US" dirty="0"/>
              <a:t> </a:t>
            </a:r>
          </a:p>
          <a:p>
            <a:pPr lvl="1"/>
            <a:r>
              <a:rPr lang="en-US" dirty="0"/>
              <a:t>Both terms can apply, but “framework” describes how it manages your application.</a:t>
            </a:r>
          </a:p>
          <a:p>
            <a:endParaRPr lang="en-US" dirty="0"/>
          </a:p>
          <a:p>
            <a:endParaRPr lang="en-US" dirty="0"/>
          </a:p>
        </p:txBody>
      </p:sp>
    </p:spTree>
    <p:extLst>
      <p:ext uri="{BB962C8B-B14F-4D97-AF65-F5344CB8AC3E}">
        <p14:creationId xmlns:p14="http://schemas.microsoft.com/office/powerpoint/2010/main" val="3477201464"/>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CD1D5-3A19-2A4E-AD19-957423920ABF}"/>
              </a:ext>
            </a:extLst>
          </p:cNvPr>
          <p:cNvSpPr>
            <a:spLocks noGrp="1"/>
          </p:cNvSpPr>
          <p:nvPr>
            <p:ph type="title"/>
          </p:nvPr>
        </p:nvSpPr>
        <p:spPr/>
        <p:txBody>
          <a:bodyPr/>
          <a:lstStyle/>
          <a:p>
            <a:r>
              <a:rPr lang="en-US" dirty="0"/>
              <a:t>MAVEN</a:t>
            </a:r>
          </a:p>
        </p:txBody>
      </p:sp>
      <p:sp>
        <p:nvSpPr>
          <p:cNvPr id="3" name="Content Placeholder 2">
            <a:extLst>
              <a:ext uri="{FF2B5EF4-FFF2-40B4-BE49-F238E27FC236}">
                <a16:creationId xmlns:a16="http://schemas.microsoft.com/office/drawing/2014/main" id="{CAD97CDF-2718-DA57-D126-FF6D0AD88881}"/>
              </a:ext>
            </a:extLst>
          </p:cNvPr>
          <p:cNvSpPr>
            <a:spLocks noGrp="1"/>
          </p:cNvSpPr>
          <p:nvPr>
            <p:ph idx="1"/>
          </p:nvPr>
        </p:nvSpPr>
        <p:spPr/>
        <p:txBody>
          <a:bodyPr>
            <a:normAutofit/>
          </a:bodyPr>
          <a:lstStyle/>
          <a:p>
            <a:endParaRPr lang="en-US" dirty="0"/>
          </a:p>
          <a:p>
            <a:r>
              <a:rPr lang="en-US" b="1" dirty="0"/>
              <a:t>Maven is a </a:t>
            </a:r>
            <a:r>
              <a:rPr lang="en-US" b="1" dirty="0">
                <a:solidFill>
                  <a:srgbClr val="9437FF"/>
                </a:solidFill>
              </a:rPr>
              <a:t>build and dependency-management tool</a:t>
            </a:r>
            <a:r>
              <a:rPr lang="en-US" b="1" dirty="0"/>
              <a:t> for Java projects.</a:t>
            </a:r>
            <a:endParaRPr lang="en-US" dirty="0"/>
          </a:p>
          <a:p>
            <a:r>
              <a:rPr lang="en-US" dirty="0"/>
              <a:t>It helps you:</a:t>
            </a:r>
          </a:p>
          <a:p>
            <a:pPr lvl="1"/>
            <a:r>
              <a:rPr lang="en-US" b="1" dirty="0"/>
              <a:t>Download dependencies:</a:t>
            </a:r>
            <a:r>
              <a:rPr lang="en-US" dirty="0"/>
              <a:t> libraries your project needs, such as JavaFX.</a:t>
            </a:r>
          </a:p>
          <a:p>
            <a:pPr lvl="1"/>
            <a:r>
              <a:rPr lang="en-US" b="1" dirty="0"/>
              <a:t>Compile code:</a:t>
            </a:r>
            <a:r>
              <a:rPr lang="en-US" dirty="0"/>
              <a:t> turn .java files into .class files.</a:t>
            </a:r>
          </a:p>
          <a:p>
            <a:pPr lvl="1"/>
            <a:r>
              <a:rPr lang="en-US" b="1" dirty="0"/>
              <a:t>Run tests and package applications:</a:t>
            </a:r>
            <a:r>
              <a:rPr lang="en-US" dirty="0"/>
              <a:t> for example, create a JAR file.</a:t>
            </a:r>
          </a:p>
          <a:p>
            <a:r>
              <a:rPr lang="en-US" dirty="0"/>
              <a:t>Maven reads </a:t>
            </a:r>
            <a:r>
              <a:rPr lang="en-US" b="1" dirty="0" err="1"/>
              <a:t>pom.xml</a:t>
            </a:r>
            <a:r>
              <a:rPr lang="en-US" dirty="0"/>
              <a:t> to learn how your project is configured.</a:t>
            </a:r>
          </a:p>
          <a:p>
            <a:endParaRPr lang="en-US" dirty="0"/>
          </a:p>
        </p:txBody>
      </p:sp>
    </p:spTree>
    <p:extLst>
      <p:ext uri="{BB962C8B-B14F-4D97-AF65-F5344CB8AC3E}">
        <p14:creationId xmlns:p14="http://schemas.microsoft.com/office/powerpoint/2010/main" val="230318333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FEEA2-8F7D-E356-CD82-F7FE655048B5}"/>
              </a:ext>
            </a:extLst>
          </p:cNvPr>
          <p:cNvSpPr>
            <a:spLocks noGrp="1"/>
          </p:cNvSpPr>
          <p:nvPr>
            <p:ph type="title"/>
          </p:nvPr>
        </p:nvSpPr>
        <p:spPr/>
        <p:txBody>
          <a:bodyPr/>
          <a:lstStyle/>
          <a:p>
            <a:r>
              <a:rPr lang="en-US" dirty="0" err="1"/>
              <a:t>pom.xml</a:t>
            </a:r>
            <a:endParaRPr lang="en-US" dirty="0"/>
          </a:p>
        </p:txBody>
      </p:sp>
      <p:sp>
        <p:nvSpPr>
          <p:cNvPr id="3" name="Content Placeholder 2">
            <a:extLst>
              <a:ext uri="{FF2B5EF4-FFF2-40B4-BE49-F238E27FC236}">
                <a16:creationId xmlns:a16="http://schemas.microsoft.com/office/drawing/2014/main" id="{BA17732C-E826-2881-239D-F0A4547EE501}"/>
              </a:ext>
            </a:extLst>
          </p:cNvPr>
          <p:cNvSpPr>
            <a:spLocks noGrp="1"/>
          </p:cNvSpPr>
          <p:nvPr>
            <p:ph idx="1"/>
          </p:nvPr>
        </p:nvSpPr>
        <p:spPr>
          <a:xfrm>
            <a:off x="838200" y="1532238"/>
            <a:ext cx="10515600" cy="4644725"/>
          </a:xfrm>
        </p:spPr>
        <p:txBody>
          <a:bodyPr>
            <a:normAutofit lnSpcReduction="10000"/>
          </a:bodyPr>
          <a:lstStyle/>
          <a:p>
            <a:r>
              <a:rPr lang="en-US" dirty="0"/>
              <a:t>POM stands for </a:t>
            </a:r>
            <a:r>
              <a:rPr lang="en-US" b="1" dirty="0"/>
              <a:t>Project Object Model</a:t>
            </a:r>
            <a:r>
              <a:rPr lang="en-US" dirty="0"/>
              <a:t>.</a:t>
            </a:r>
          </a:p>
          <a:p>
            <a:r>
              <a:rPr lang="en-US" b="1" dirty="0" err="1"/>
              <a:t>pom.xml</a:t>
            </a:r>
            <a:r>
              <a:rPr lang="en-US" b="1" dirty="0"/>
              <a:t> is </a:t>
            </a:r>
            <a:r>
              <a:rPr lang="en-US" dirty="0"/>
              <a:t>the configuration file for a Maven project.</a:t>
            </a:r>
          </a:p>
          <a:p>
            <a:endParaRPr lang="en-US" dirty="0"/>
          </a:p>
          <a:p>
            <a:r>
              <a:rPr lang="en-US" dirty="0"/>
              <a:t>It tells Maven:</a:t>
            </a:r>
          </a:p>
          <a:p>
            <a:pPr lvl="1"/>
            <a:r>
              <a:rPr lang="en-US" dirty="0"/>
              <a:t>Your project’s name and version.</a:t>
            </a:r>
          </a:p>
          <a:p>
            <a:pPr lvl="1"/>
            <a:r>
              <a:rPr lang="en-US" dirty="0"/>
              <a:t>Which libraries the project needs—for example, JavaFX.</a:t>
            </a:r>
          </a:p>
          <a:p>
            <a:pPr lvl="1"/>
            <a:r>
              <a:rPr lang="en-US" dirty="0"/>
              <a:t>Which Java version to use when compiling.</a:t>
            </a:r>
          </a:p>
          <a:p>
            <a:pPr lvl="1"/>
            <a:r>
              <a:rPr lang="en-US" dirty="0"/>
              <a:t>Which plugins to use for tasks such as running the application.</a:t>
            </a:r>
          </a:p>
          <a:p>
            <a:pPr marL="0" indent="0">
              <a:buNone/>
            </a:pPr>
            <a:r>
              <a:rPr lang="en-US" dirty="0"/>
              <a:t> </a:t>
            </a:r>
          </a:p>
          <a:p>
            <a:r>
              <a:rPr lang="en-US" sz="2600" dirty="0"/>
              <a:t>The Java files contain our program; </a:t>
            </a:r>
            <a:r>
              <a:rPr lang="en-US" sz="2600" dirty="0" err="1"/>
              <a:t>pom.xml</a:t>
            </a:r>
            <a:r>
              <a:rPr lang="en-US" sz="2600" dirty="0"/>
              <a:t> tells Maven how to build and run it.</a:t>
            </a:r>
          </a:p>
        </p:txBody>
      </p:sp>
    </p:spTree>
    <p:extLst>
      <p:ext uri="{BB962C8B-B14F-4D97-AF65-F5344CB8AC3E}">
        <p14:creationId xmlns:p14="http://schemas.microsoft.com/office/powerpoint/2010/main" val="3415135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7E281-A6F1-890E-0AE2-E13D82C4D669}"/>
              </a:ext>
            </a:extLst>
          </p:cNvPr>
          <p:cNvSpPr>
            <a:spLocks noGrp="1"/>
          </p:cNvSpPr>
          <p:nvPr>
            <p:ph type="title"/>
          </p:nvPr>
        </p:nvSpPr>
        <p:spPr/>
        <p:txBody>
          <a:bodyPr/>
          <a:lstStyle/>
          <a:p>
            <a:r>
              <a:rPr lang="en-US" dirty="0"/>
              <a:t>Project Creation &amp; First App</a:t>
            </a:r>
          </a:p>
        </p:txBody>
      </p:sp>
      <p:sp>
        <p:nvSpPr>
          <p:cNvPr id="3" name="Content Placeholder 2">
            <a:extLst>
              <a:ext uri="{FF2B5EF4-FFF2-40B4-BE49-F238E27FC236}">
                <a16:creationId xmlns:a16="http://schemas.microsoft.com/office/drawing/2014/main" id="{B964C864-73D5-CC26-6C98-74EA2C8503D5}"/>
              </a:ext>
            </a:extLst>
          </p:cNvPr>
          <p:cNvSpPr>
            <a:spLocks noGrp="1"/>
          </p:cNvSpPr>
          <p:nvPr>
            <p:ph idx="1"/>
          </p:nvPr>
        </p:nvSpPr>
        <p:spPr/>
        <p:txBody>
          <a:bodyPr>
            <a:normAutofit fontScale="70000" lnSpcReduction="20000"/>
          </a:bodyPr>
          <a:lstStyle/>
          <a:p>
            <a:pPr marL="0" indent="0">
              <a:buNone/>
            </a:pPr>
            <a:r>
              <a:rPr lang="en-US" dirty="0"/>
              <a:t>public class </a:t>
            </a:r>
            <a:r>
              <a:rPr lang="en-US" b="1" dirty="0" err="1"/>
              <a:t>LabelApp</a:t>
            </a:r>
            <a:r>
              <a:rPr lang="en-US" dirty="0"/>
              <a:t> extends </a:t>
            </a:r>
            <a:r>
              <a:rPr lang="en-US" b="1" dirty="0"/>
              <a:t>Application</a:t>
            </a:r>
            <a:r>
              <a:rPr lang="en-US" dirty="0"/>
              <a:t> {</a:t>
            </a:r>
          </a:p>
          <a:p>
            <a:pPr marL="0" indent="0">
              <a:buNone/>
            </a:pPr>
            <a:br>
              <a:rPr lang="en-US" dirty="0"/>
            </a:br>
            <a:endParaRPr lang="en-US" dirty="0"/>
          </a:p>
          <a:p>
            <a:pPr marL="0" indent="0">
              <a:buNone/>
            </a:pPr>
            <a:r>
              <a:rPr lang="en-US" dirty="0"/>
              <a:t>@</a:t>
            </a:r>
            <a:r>
              <a:rPr lang="en-US" b="1" dirty="0"/>
              <a:t>Override</a:t>
            </a:r>
            <a:endParaRPr lang="en-US" dirty="0"/>
          </a:p>
          <a:p>
            <a:pPr marL="0" indent="0">
              <a:buNone/>
            </a:pPr>
            <a:r>
              <a:rPr lang="en-US" dirty="0"/>
              <a:t>public void </a:t>
            </a:r>
            <a:r>
              <a:rPr lang="en-US" b="1" dirty="0"/>
              <a:t>start</a:t>
            </a:r>
            <a:r>
              <a:rPr lang="en-US" dirty="0"/>
              <a:t>(</a:t>
            </a:r>
            <a:r>
              <a:rPr lang="en-US" b="1" dirty="0"/>
              <a:t>Stage</a:t>
            </a:r>
            <a:r>
              <a:rPr lang="en-US" dirty="0"/>
              <a:t> stage) {</a:t>
            </a:r>
          </a:p>
          <a:p>
            <a:pPr marL="0" indent="0">
              <a:buNone/>
            </a:pPr>
            <a:endParaRPr lang="en-US" dirty="0"/>
          </a:p>
          <a:p>
            <a:pPr marL="0" indent="0">
              <a:buNone/>
            </a:pPr>
            <a:r>
              <a:rPr lang="en-US" dirty="0"/>
              <a:t>}</a:t>
            </a:r>
          </a:p>
          <a:p>
            <a:pPr marL="0" indent="0">
              <a:buNone/>
            </a:pPr>
            <a:br>
              <a:rPr lang="en-US" dirty="0"/>
            </a:br>
            <a:endParaRPr lang="en-US" dirty="0"/>
          </a:p>
          <a:p>
            <a:pPr marL="0" indent="0">
              <a:buNone/>
            </a:pPr>
            <a:r>
              <a:rPr lang="en-US" dirty="0"/>
              <a:t>public static void </a:t>
            </a:r>
            <a:r>
              <a:rPr lang="en-US" b="1" dirty="0"/>
              <a:t>main</a:t>
            </a:r>
            <a:r>
              <a:rPr lang="en-US" dirty="0"/>
              <a:t>(</a:t>
            </a:r>
            <a:r>
              <a:rPr lang="en-US" b="1" dirty="0"/>
              <a:t>String</a:t>
            </a:r>
            <a:r>
              <a:rPr lang="en-US" dirty="0"/>
              <a:t>[] </a:t>
            </a:r>
            <a:r>
              <a:rPr lang="en-US" dirty="0" err="1"/>
              <a:t>args</a:t>
            </a:r>
            <a:r>
              <a:rPr lang="en-US" dirty="0"/>
              <a:t>) {</a:t>
            </a:r>
          </a:p>
          <a:p>
            <a:pPr marL="0" indent="0">
              <a:buNone/>
            </a:pPr>
            <a:r>
              <a:rPr lang="en-US" b="1" dirty="0"/>
              <a:t>	launch</a:t>
            </a:r>
            <a:r>
              <a:rPr lang="en-US" dirty="0"/>
              <a:t>(</a:t>
            </a:r>
            <a:r>
              <a:rPr lang="en-US" dirty="0" err="1"/>
              <a:t>args</a:t>
            </a:r>
            <a:r>
              <a:rPr lang="en-US" dirty="0"/>
              <a:t>);</a:t>
            </a:r>
          </a:p>
          <a:p>
            <a:pPr marL="0" indent="0">
              <a:buNone/>
            </a:pPr>
            <a:r>
              <a:rPr lang="en-US" dirty="0"/>
              <a:t>}</a:t>
            </a:r>
          </a:p>
          <a:p>
            <a:pPr marL="0" indent="0">
              <a:buNone/>
            </a:pPr>
            <a:endParaRPr lang="en-US" dirty="0"/>
          </a:p>
          <a:p>
            <a:pPr marL="0" indent="0">
              <a:buNone/>
            </a:pPr>
            <a:r>
              <a:rPr lang="en-US" dirty="0"/>
              <a:t>}</a:t>
            </a:r>
          </a:p>
          <a:p>
            <a:endParaRPr lang="en-US" dirty="0"/>
          </a:p>
        </p:txBody>
      </p:sp>
      <p:sp>
        <p:nvSpPr>
          <p:cNvPr id="5" name="Text Placeholder 4">
            <a:extLst>
              <a:ext uri="{FF2B5EF4-FFF2-40B4-BE49-F238E27FC236}">
                <a16:creationId xmlns:a16="http://schemas.microsoft.com/office/drawing/2014/main" id="{9FF2741B-8C4A-C1F7-0E72-CE762510116C}"/>
              </a:ext>
            </a:extLst>
          </p:cNvPr>
          <p:cNvSpPr>
            <a:spLocks noGrp="1"/>
          </p:cNvSpPr>
          <p:nvPr>
            <p:ph type="body" sz="half" idx="2"/>
          </p:nvPr>
        </p:nvSpPr>
        <p:spPr/>
        <p:txBody>
          <a:bodyPr/>
          <a:lstStyle/>
          <a:p>
            <a:endParaRPr lang="en-US" dirty="0"/>
          </a:p>
          <a:p>
            <a:endParaRPr lang="en-US" dirty="0"/>
          </a:p>
          <a:p>
            <a:pPr lvl="1"/>
            <a:endParaRPr lang="en-US" dirty="0"/>
          </a:p>
          <a:p>
            <a:pPr lvl="1"/>
            <a:endParaRPr lang="en-US" dirty="0"/>
          </a:p>
          <a:p>
            <a:pPr lvl="1"/>
            <a:r>
              <a:rPr lang="en-US" dirty="0">
                <a:solidFill>
                  <a:srgbClr val="9437FF"/>
                </a:solidFill>
              </a:rPr>
              <a:t>Our class supplies the application’s behavior; JavaFX manages its lifecycle.</a:t>
            </a:r>
          </a:p>
          <a:p>
            <a:endParaRPr lang="en-US" dirty="0"/>
          </a:p>
        </p:txBody>
      </p:sp>
    </p:spTree>
    <p:extLst>
      <p:ext uri="{BB962C8B-B14F-4D97-AF65-F5344CB8AC3E}">
        <p14:creationId xmlns:p14="http://schemas.microsoft.com/office/powerpoint/2010/main" val="982467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023F0EE-2991-194B-4B98-91E71BC7DF09}"/>
              </a:ext>
            </a:extLst>
          </p:cNvPr>
          <p:cNvSpPr>
            <a:spLocks noGrp="1"/>
          </p:cNvSpPr>
          <p:nvPr>
            <p:ph type="title"/>
          </p:nvPr>
        </p:nvSpPr>
        <p:spPr/>
        <p:txBody>
          <a:bodyPr/>
          <a:lstStyle/>
          <a:p>
            <a:r>
              <a:rPr lang="en-US" dirty="0"/>
              <a:t>Getting to know the code …</a:t>
            </a:r>
          </a:p>
        </p:txBody>
      </p:sp>
      <p:sp>
        <p:nvSpPr>
          <p:cNvPr id="6" name="Content Placeholder 5">
            <a:extLst>
              <a:ext uri="{FF2B5EF4-FFF2-40B4-BE49-F238E27FC236}">
                <a16:creationId xmlns:a16="http://schemas.microsoft.com/office/drawing/2014/main" id="{310A750A-57AA-EC84-5179-5D07D3DA392C}"/>
              </a:ext>
            </a:extLst>
          </p:cNvPr>
          <p:cNvSpPr>
            <a:spLocks noGrp="1"/>
          </p:cNvSpPr>
          <p:nvPr>
            <p:ph idx="1"/>
          </p:nvPr>
        </p:nvSpPr>
        <p:spPr/>
        <p:txBody>
          <a:bodyPr>
            <a:normAutofit/>
          </a:bodyPr>
          <a:lstStyle/>
          <a:p>
            <a:r>
              <a:rPr lang="en-US" b="1" dirty="0"/>
              <a:t>Application: The application class</a:t>
            </a:r>
            <a:endParaRPr lang="en-US" dirty="0"/>
          </a:p>
          <a:p>
            <a:pPr lvl="1"/>
            <a:endParaRPr lang="en-US" dirty="0"/>
          </a:p>
          <a:p>
            <a:pPr lvl="1"/>
            <a:r>
              <a:rPr lang="en-US" b="1" dirty="0">
                <a:latin typeface="Courier New" panose="02070309020205020404" pitchFamily="49" charset="0"/>
                <a:cs typeface="Courier New" panose="02070309020205020404" pitchFamily="49" charset="0"/>
              </a:rPr>
              <a:t>Application </a:t>
            </a:r>
            <a:r>
              <a:rPr lang="en-US" dirty="0"/>
              <a:t>is the abstract base class for a </a:t>
            </a:r>
            <a:r>
              <a:rPr lang="en-US" b="1" dirty="0">
                <a:latin typeface="Courier New" panose="02070309020205020404" pitchFamily="49" charset="0"/>
                <a:cs typeface="Courier New" panose="02070309020205020404" pitchFamily="49" charset="0"/>
              </a:rPr>
              <a:t>JavaFX program</a:t>
            </a:r>
            <a:r>
              <a:rPr lang="en-US" dirty="0"/>
              <a:t>. </a:t>
            </a:r>
          </a:p>
          <a:p>
            <a:pPr lvl="1"/>
            <a:endParaRPr lang="en-US" dirty="0"/>
          </a:p>
          <a:p>
            <a:r>
              <a:rPr lang="en-US" dirty="0"/>
              <a:t>We extend it and </a:t>
            </a:r>
            <a:r>
              <a:rPr lang="en-US" b="1" dirty="0">
                <a:latin typeface="Courier New" panose="02070309020205020404" pitchFamily="49" charset="0"/>
                <a:cs typeface="Courier New" panose="02070309020205020404" pitchFamily="49" charset="0"/>
              </a:rPr>
              <a:t>override start() </a:t>
            </a:r>
            <a:r>
              <a:rPr lang="en-US" dirty="0"/>
              <a:t>to create the window’s controls, arrange them, and display the window.</a:t>
            </a:r>
          </a:p>
          <a:p>
            <a:pPr lvl="1"/>
            <a:endParaRPr lang="en-US" dirty="0"/>
          </a:p>
          <a:p>
            <a:r>
              <a:rPr lang="en-US" b="1" dirty="0" err="1"/>
              <a:t>LabelApp</a:t>
            </a:r>
            <a:r>
              <a:rPr lang="en-US" b="1" dirty="0"/>
              <a:t> class: </a:t>
            </a:r>
            <a:r>
              <a:rPr lang="en-US" dirty="0"/>
              <a:t>Our application class, which </a:t>
            </a:r>
            <a:r>
              <a:rPr lang="en-US" b="1" dirty="0"/>
              <a:t>extends</a:t>
            </a:r>
            <a:r>
              <a:rPr lang="en-US" dirty="0"/>
              <a:t> the JavaFX Application class.</a:t>
            </a:r>
          </a:p>
          <a:p>
            <a:endParaRPr lang="en-US" dirty="0"/>
          </a:p>
        </p:txBody>
      </p:sp>
    </p:spTree>
    <p:extLst>
      <p:ext uri="{BB962C8B-B14F-4D97-AF65-F5344CB8AC3E}">
        <p14:creationId xmlns:p14="http://schemas.microsoft.com/office/powerpoint/2010/main" val="3291927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B9BB8-CE3C-578B-73D3-48C5FAE19B23}"/>
              </a:ext>
            </a:extLst>
          </p:cNvPr>
          <p:cNvSpPr>
            <a:spLocks noGrp="1"/>
          </p:cNvSpPr>
          <p:nvPr>
            <p:ph type="title"/>
          </p:nvPr>
        </p:nvSpPr>
        <p:spPr/>
        <p:txBody>
          <a:bodyPr/>
          <a:lstStyle/>
          <a:p>
            <a:r>
              <a:rPr lang="en-US" dirty="0"/>
              <a:t>Getting to know the code …</a:t>
            </a:r>
          </a:p>
        </p:txBody>
      </p:sp>
      <p:sp>
        <p:nvSpPr>
          <p:cNvPr id="3" name="Content Placeholder 2">
            <a:extLst>
              <a:ext uri="{FF2B5EF4-FFF2-40B4-BE49-F238E27FC236}">
                <a16:creationId xmlns:a16="http://schemas.microsoft.com/office/drawing/2014/main" id="{1C48FC94-BCF8-D257-F9FF-C799AD06D9B6}"/>
              </a:ext>
            </a:extLst>
          </p:cNvPr>
          <p:cNvSpPr>
            <a:spLocks noGrp="1"/>
          </p:cNvSpPr>
          <p:nvPr>
            <p:ph idx="1"/>
          </p:nvPr>
        </p:nvSpPr>
        <p:spPr/>
        <p:txBody>
          <a:bodyPr/>
          <a:lstStyle/>
          <a:p>
            <a:r>
              <a:rPr lang="en-US" b="1" dirty="0"/>
              <a:t>Stage: the window</a:t>
            </a:r>
            <a:endParaRPr lang="en-US" dirty="0"/>
          </a:p>
          <a:p>
            <a:endParaRPr lang="en-US" dirty="0"/>
          </a:p>
          <a:p>
            <a:r>
              <a:rPr lang="en-US" dirty="0"/>
              <a:t>A Stage represents a top-level window. </a:t>
            </a:r>
          </a:p>
          <a:p>
            <a:r>
              <a:rPr lang="en-US" dirty="0"/>
              <a:t>JavaFX creates the primary stage and passes it to </a:t>
            </a:r>
            <a:r>
              <a:rPr lang="en-US" b="1" dirty="0">
                <a:latin typeface="Courier New" panose="02070309020205020404" pitchFamily="49" charset="0"/>
                <a:cs typeface="Courier New" panose="02070309020205020404" pitchFamily="49" charset="0"/>
              </a:rPr>
              <a:t>start().</a:t>
            </a:r>
          </a:p>
          <a:p>
            <a:r>
              <a:rPr lang="en-US" dirty="0"/>
              <a:t>An application </a:t>
            </a:r>
            <a:r>
              <a:rPr lang="en-US" b="1" dirty="0"/>
              <a:t>can create additional stages</a:t>
            </a:r>
            <a:r>
              <a:rPr lang="en-US" dirty="0"/>
              <a:t> for additional windows.</a:t>
            </a:r>
          </a:p>
          <a:p>
            <a:endParaRPr lang="en-US"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11536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6852-B925-EC6F-5A88-18202787939D}"/>
              </a:ext>
            </a:extLst>
          </p:cNvPr>
          <p:cNvSpPr>
            <a:spLocks noGrp="1"/>
          </p:cNvSpPr>
          <p:nvPr>
            <p:ph type="title"/>
          </p:nvPr>
        </p:nvSpPr>
        <p:spPr/>
        <p:txBody>
          <a:bodyPr/>
          <a:lstStyle/>
          <a:p>
            <a:r>
              <a:rPr lang="en-US" dirty="0"/>
              <a:t>Getting to know the code …</a:t>
            </a:r>
          </a:p>
        </p:txBody>
      </p:sp>
      <p:sp>
        <p:nvSpPr>
          <p:cNvPr id="3" name="Content Placeholder 2">
            <a:extLst>
              <a:ext uri="{FF2B5EF4-FFF2-40B4-BE49-F238E27FC236}">
                <a16:creationId xmlns:a16="http://schemas.microsoft.com/office/drawing/2014/main" id="{0430AA9B-B890-1CE3-3D9E-0E29704BAB29}"/>
              </a:ext>
            </a:extLst>
          </p:cNvPr>
          <p:cNvSpPr>
            <a:spLocks noGrp="1"/>
          </p:cNvSpPr>
          <p:nvPr>
            <p:ph idx="1"/>
          </p:nvPr>
        </p:nvSpPr>
        <p:spPr/>
        <p:txBody>
          <a:bodyPr/>
          <a:lstStyle/>
          <a:p>
            <a:r>
              <a:rPr lang="en-US" b="1" dirty="0"/>
              <a:t>Scene: the window’s content</a:t>
            </a:r>
          </a:p>
          <a:p>
            <a:endParaRPr lang="en-US" b="1" dirty="0"/>
          </a:p>
          <a:p>
            <a:r>
              <a:rPr lang="en-US" dirty="0"/>
              <a:t>A Scene holds the hierarchy of visual elements, called the </a:t>
            </a:r>
            <a:r>
              <a:rPr lang="en-US" b="1" dirty="0"/>
              <a:t>scene graph</a:t>
            </a:r>
            <a:r>
              <a:rPr lang="en-US" dirty="0"/>
              <a:t>.</a:t>
            </a:r>
          </a:p>
          <a:p>
            <a:endParaRPr lang="en-US" dirty="0"/>
          </a:p>
          <a:p>
            <a:r>
              <a:rPr lang="en-US" dirty="0"/>
              <a:t>A stage displays one scene at a time, but you can replace that scene.</a:t>
            </a:r>
            <a:endParaRPr lang="en-US" b="1" dirty="0"/>
          </a:p>
        </p:txBody>
      </p:sp>
    </p:spTree>
    <p:extLst>
      <p:ext uri="{BB962C8B-B14F-4D97-AF65-F5344CB8AC3E}">
        <p14:creationId xmlns:p14="http://schemas.microsoft.com/office/powerpoint/2010/main" val="792697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D5A1B-B285-E895-D900-377B61697892}"/>
              </a:ext>
            </a:extLst>
          </p:cNvPr>
          <p:cNvSpPr>
            <a:spLocks noGrp="1"/>
          </p:cNvSpPr>
          <p:nvPr>
            <p:ph type="title"/>
          </p:nvPr>
        </p:nvSpPr>
        <p:spPr/>
        <p:txBody>
          <a:bodyPr/>
          <a:lstStyle/>
          <a:p>
            <a:r>
              <a:rPr lang="en-US" dirty="0"/>
              <a:t>Getting to know the code</a:t>
            </a:r>
          </a:p>
        </p:txBody>
      </p:sp>
      <p:sp>
        <p:nvSpPr>
          <p:cNvPr id="3" name="Content Placeholder 2">
            <a:extLst>
              <a:ext uri="{FF2B5EF4-FFF2-40B4-BE49-F238E27FC236}">
                <a16:creationId xmlns:a16="http://schemas.microsoft.com/office/drawing/2014/main" id="{896DDA22-4DCC-8A40-205C-3705E8D3D603}"/>
              </a:ext>
            </a:extLst>
          </p:cNvPr>
          <p:cNvSpPr>
            <a:spLocks noGrp="1"/>
          </p:cNvSpPr>
          <p:nvPr>
            <p:ph idx="1"/>
          </p:nvPr>
        </p:nvSpPr>
        <p:spPr/>
        <p:txBody>
          <a:bodyPr/>
          <a:lstStyle/>
          <a:p>
            <a:r>
              <a:rPr lang="en-US" b="1" dirty="0"/>
              <a:t>Components and layout containers</a:t>
            </a:r>
          </a:p>
          <a:p>
            <a:endParaRPr lang="en-US" b="1" dirty="0"/>
          </a:p>
          <a:p>
            <a:pPr lvl="1"/>
            <a:r>
              <a:rPr lang="en-US" dirty="0"/>
              <a:t>Controls are GUI elements such as labels, buttons, text fields, and dropdowns</a:t>
            </a:r>
          </a:p>
          <a:p>
            <a:pPr lvl="1"/>
            <a:r>
              <a:rPr lang="en-US" dirty="0"/>
              <a:t>Other controls include Button, </a:t>
            </a:r>
            <a:r>
              <a:rPr lang="en-US" dirty="0" err="1"/>
              <a:t>TextField</a:t>
            </a:r>
            <a:r>
              <a:rPr lang="en-US" dirty="0"/>
              <a:t>, </a:t>
            </a:r>
            <a:r>
              <a:rPr lang="en-US" dirty="0" err="1"/>
              <a:t>TextArea</a:t>
            </a:r>
            <a:r>
              <a:rPr lang="en-US" dirty="0"/>
              <a:t>, and </a:t>
            </a:r>
            <a:r>
              <a:rPr lang="en-US" dirty="0" err="1"/>
              <a:t>ComboBox</a:t>
            </a:r>
            <a:r>
              <a:rPr lang="en-US" dirty="0"/>
              <a:t>.</a:t>
            </a:r>
          </a:p>
          <a:p>
            <a:pPr lvl="1"/>
            <a:endParaRPr lang="en-US" dirty="0"/>
          </a:p>
          <a:p>
            <a:pPr lvl="1"/>
            <a:r>
              <a:rPr lang="en-US" b="1" dirty="0"/>
              <a:t>Layout container &gt;&gt; </a:t>
            </a:r>
          </a:p>
          <a:p>
            <a:pPr lvl="2"/>
            <a:r>
              <a:rPr lang="en-US" dirty="0"/>
              <a:t>Layout containers arrange these controls.</a:t>
            </a:r>
          </a:p>
          <a:p>
            <a:pPr lvl="2"/>
            <a:r>
              <a:rPr lang="en-US" dirty="0"/>
              <a:t>examples include </a:t>
            </a:r>
            <a:r>
              <a:rPr lang="en-US" dirty="0" err="1"/>
              <a:t>StackPane</a:t>
            </a:r>
            <a:r>
              <a:rPr lang="en-US" dirty="0"/>
              <a:t>, </a:t>
            </a:r>
            <a:r>
              <a:rPr lang="en-US" dirty="0" err="1"/>
              <a:t>Vbox</a:t>
            </a:r>
            <a:r>
              <a:rPr lang="en-US" dirty="0"/>
              <a:t>, </a:t>
            </a:r>
            <a:r>
              <a:rPr lang="en-US" dirty="0" err="1"/>
              <a:t>HBox</a:t>
            </a:r>
            <a:endParaRPr lang="en-US" dirty="0"/>
          </a:p>
          <a:p>
            <a:pPr lvl="1"/>
            <a:endParaRPr lang="en-US" b="1" dirty="0"/>
          </a:p>
        </p:txBody>
      </p:sp>
    </p:spTree>
    <p:extLst>
      <p:ext uri="{BB962C8B-B14F-4D97-AF65-F5344CB8AC3E}">
        <p14:creationId xmlns:p14="http://schemas.microsoft.com/office/powerpoint/2010/main" val="3795462966"/>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C4CA2-0E9E-3EC0-1FB6-EAFAA65AD077}"/>
              </a:ext>
            </a:extLst>
          </p:cNvPr>
          <p:cNvSpPr>
            <a:spLocks noGrp="1"/>
          </p:cNvSpPr>
          <p:nvPr>
            <p:ph type="title"/>
          </p:nvPr>
        </p:nvSpPr>
        <p:spPr/>
        <p:txBody>
          <a:bodyPr/>
          <a:lstStyle/>
          <a:p>
            <a:r>
              <a:rPr lang="en-US" dirty="0"/>
              <a:t>Getting to know the code …</a:t>
            </a:r>
          </a:p>
        </p:txBody>
      </p:sp>
      <p:sp>
        <p:nvSpPr>
          <p:cNvPr id="3" name="Content Placeholder 2">
            <a:extLst>
              <a:ext uri="{FF2B5EF4-FFF2-40B4-BE49-F238E27FC236}">
                <a16:creationId xmlns:a16="http://schemas.microsoft.com/office/drawing/2014/main" id="{C003B029-E5B9-7825-8A2F-A6BAD16EB93F}"/>
              </a:ext>
            </a:extLst>
          </p:cNvPr>
          <p:cNvSpPr>
            <a:spLocks noGrp="1"/>
          </p:cNvSpPr>
          <p:nvPr>
            <p:ph idx="1"/>
          </p:nvPr>
        </p:nvSpPr>
        <p:spPr/>
        <p:txBody>
          <a:bodyPr/>
          <a:lstStyle/>
          <a:p>
            <a:r>
              <a:rPr lang="en-US" dirty="0"/>
              <a:t>launch() &gt;&gt; start JavaFX</a:t>
            </a:r>
          </a:p>
          <a:p>
            <a:pPr marL="0" indent="0">
              <a:buNone/>
            </a:pPr>
            <a:endParaRPr lang="en-US" dirty="0"/>
          </a:p>
          <a:p>
            <a:pPr lvl="1"/>
            <a:r>
              <a:rPr lang="en-US" dirty="0"/>
              <a:t>launch() starts the JavaFX runtime and hands control to it. </a:t>
            </a:r>
          </a:p>
          <a:p>
            <a:pPr lvl="1"/>
            <a:endParaRPr lang="en-US" dirty="0"/>
          </a:p>
          <a:p>
            <a:pPr lvl="1"/>
            <a:r>
              <a:rPr lang="en-US" dirty="0"/>
              <a:t>JavaFX creates our application object and calls its lifecycle methods. </a:t>
            </a:r>
          </a:p>
          <a:p>
            <a:pPr lvl="1"/>
            <a:endParaRPr lang="en-US" dirty="0"/>
          </a:p>
          <a:p>
            <a:pPr lvl="1"/>
            <a:r>
              <a:rPr lang="en-US" dirty="0"/>
              <a:t>The command-line arguments are forwarded as application parameters.</a:t>
            </a:r>
          </a:p>
          <a:p>
            <a:pPr lvl="1"/>
            <a:endParaRPr lang="en-US" dirty="0"/>
          </a:p>
          <a:p>
            <a:endParaRPr lang="en-US" dirty="0"/>
          </a:p>
          <a:p>
            <a:endParaRPr lang="en-US" dirty="0"/>
          </a:p>
        </p:txBody>
      </p:sp>
    </p:spTree>
    <p:extLst>
      <p:ext uri="{BB962C8B-B14F-4D97-AF65-F5344CB8AC3E}">
        <p14:creationId xmlns:p14="http://schemas.microsoft.com/office/powerpoint/2010/main" val="1335587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F50BF0-3265-88AC-32F5-BA00FEE49D2E}"/>
              </a:ext>
            </a:extLst>
          </p:cNvPr>
          <p:cNvSpPr>
            <a:spLocks noGrp="1"/>
          </p:cNvSpPr>
          <p:nvPr>
            <p:ph type="title"/>
          </p:nvPr>
        </p:nvSpPr>
        <p:spPr>
          <a:xfrm>
            <a:off x="841248" y="256032"/>
            <a:ext cx="10506456" cy="1014984"/>
          </a:xfrm>
        </p:spPr>
        <p:txBody>
          <a:bodyPr anchor="b">
            <a:normAutofit/>
          </a:bodyPr>
          <a:lstStyle/>
          <a:p>
            <a:r>
              <a:rPr lang="en-US"/>
              <a:t>The Application Lifecycle</a:t>
            </a:r>
            <a:endParaRPr lang="en-US"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235D24D5-7904-5CDA-E3A9-D60CB56A944F}"/>
              </a:ext>
            </a:extLst>
          </p:cNvPr>
          <p:cNvGraphicFramePr>
            <a:graphicFrameLocks noGrp="1"/>
          </p:cNvGraphicFramePr>
          <p:nvPr>
            <p:ph idx="1"/>
            <p:extLst>
              <p:ext uri="{D42A27DB-BD31-4B8C-83A1-F6EECF244321}">
                <p14:modId xmlns:p14="http://schemas.microsoft.com/office/powerpoint/2010/main" val="4224004761"/>
              </p:ext>
            </p:extLst>
          </p:nvPr>
        </p:nvGraphicFramePr>
        <p:xfrm>
          <a:off x="838200" y="1941370"/>
          <a:ext cx="10515600" cy="4327318"/>
        </p:xfrm>
        <a:graphic>
          <a:graphicData uri="http://schemas.openxmlformats.org/drawingml/2006/table">
            <a:tbl>
              <a:tblPr>
                <a:tableStyleId>{5C22544A-7EE6-4342-B048-85BDC9FD1C3A}</a:tableStyleId>
              </a:tblPr>
              <a:tblGrid>
                <a:gridCol w="4035896">
                  <a:extLst>
                    <a:ext uri="{9D8B030D-6E8A-4147-A177-3AD203B41FA5}">
                      <a16:colId xmlns:a16="http://schemas.microsoft.com/office/drawing/2014/main" val="2068147868"/>
                    </a:ext>
                  </a:extLst>
                </a:gridCol>
                <a:gridCol w="6479704">
                  <a:extLst>
                    <a:ext uri="{9D8B030D-6E8A-4147-A177-3AD203B41FA5}">
                      <a16:colId xmlns:a16="http://schemas.microsoft.com/office/drawing/2014/main" val="1411731413"/>
                    </a:ext>
                  </a:extLst>
                </a:gridCol>
              </a:tblGrid>
              <a:tr h="495839">
                <a:tc>
                  <a:txBody>
                    <a:bodyPr/>
                    <a:lstStyle/>
                    <a:p>
                      <a:pPr>
                        <a:buNone/>
                      </a:pPr>
                      <a:r>
                        <a:rPr lang="en-US" sz="2200"/>
                        <a:t>Step</a:t>
                      </a:r>
                    </a:p>
                  </a:txBody>
                  <a:tcPr marL="112691" marR="112691" marT="56345" marB="56345" anchor="ctr"/>
                </a:tc>
                <a:tc>
                  <a:txBody>
                    <a:bodyPr/>
                    <a:lstStyle/>
                    <a:p>
                      <a:pPr>
                        <a:buNone/>
                      </a:pPr>
                      <a:r>
                        <a:rPr lang="en-US" sz="2200"/>
                        <a:t>What happens</a:t>
                      </a:r>
                    </a:p>
                  </a:txBody>
                  <a:tcPr marL="112691" marR="112691" marT="56345" marB="56345" anchor="ctr"/>
                </a:tc>
                <a:extLst>
                  <a:ext uri="{0D108BD9-81ED-4DB2-BD59-A6C34878D82A}">
                    <a16:rowId xmlns:a16="http://schemas.microsoft.com/office/drawing/2014/main" val="784290113"/>
                  </a:ext>
                </a:extLst>
              </a:tr>
              <a:tr h="833910">
                <a:tc>
                  <a:txBody>
                    <a:bodyPr/>
                    <a:lstStyle/>
                    <a:p>
                      <a:pPr>
                        <a:buNone/>
                      </a:pPr>
                      <a:r>
                        <a:rPr lang="en-US" sz="2200"/>
                        <a:t>launch(args)</a:t>
                      </a:r>
                    </a:p>
                  </a:txBody>
                  <a:tcPr marL="112691" marR="112691" marT="56345" marB="56345" anchor="ctr"/>
                </a:tc>
                <a:tc>
                  <a:txBody>
                    <a:bodyPr/>
                    <a:lstStyle/>
                    <a:p>
                      <a:pPr>
                        <a:buNone/>
                      </a:pPr>
                      <a:r>
                        <a:rPr lang="en-US" sz="2200"/>
                        <a:t>Starts JavaFX; JavaFX creates the application object, invoking its constructor.</a:t>
                      </a:r>
                    </a:p>
                  </a:txBody>
                  <a:tcPr marL="112691" marR="112691" marT="56345" marB="56345" anchor="ctr"/>
                </a:tc>
                <a:extLst>
                  <a:ext uri="{0D108BD9-81ED-4DB2-BD59-A6C34878D82A}">
                    <a16:rowId xmlns:a16="http://schemas.microsoft.com/office/drawing/2014/main" val="3347272130"/>
                  </a:ext>
                </a:extLst>
              </a:tr>
              <a:tr h="495839">
                <a:tc>
                  <a:txBody>
                    <a:bodyPr/>
                    <a:lstStyle/>
                    <a:p>
                      <a:pPr>
                        <a:buNone/>
                      </a:pPr>
                      <a:r>
                        <a:rPr lang="en-US" sz="2200"/>
                        <a:t>init()</a:t>
                      </a:r>
                    </a:p>
                  </a:txBody>
                  <a:tcPr marL="112691" marR="112691" marT="56345" marB="56345" anchor="ctr"/>
                </a:tc>
                <a:tc>
                  <a:txBody>
                    <a:bodyPr/>
                    <a:lstStyle/>
                    <a:p>
                      <a:pPr>
                        <a:buNone/>
                      </a:pPr>
                      <a:r>
                        <a:rPr lang="en-US" sz="2200"/>
                        <a:t>Performs initial setup. Optional to override.</a:t>
                      </a:r>
                    </a:p>
                  </a:txBody>
                  <a:tcPr marL="112691" marR="112691" marT="56345" marB="56345" anchor="ctr"/>
                </a:tc>
                <a:extLst>
                  <a:ext uri="{0D108BD9-81ED-4DB2-BD59-A6C34878D82A}">
                    <a16:rowId xmlns:a16="http://schemas.microsoft.com/office/drawing/2014/main" val="3433751690"/>
                  </a:ext>
                </a:extLst>
              </a:tr>
              <a:tr h="833910">
                <a:tc>
                  <a:txBody>
                    <a:bodyPr/>
                    <a:lstStyle/>
                    <a:p>
                      <a:pPr>
                        <a:buNone/>
                      </a:pPr>
                      <a:r>
                        <a:rPr lang="en-US" sz="2200"/>
                        <a:t>start(Stage stage)</a:t>
                      </a:r>
                    </a:p>
                  </a:txBody>
                  <a:tcPr marL="112691" marR="112691" marT="56345" marB="56345" anchor="ctr"/>
                </a:tc>
                <a:tc>
                  <a:txBody>
                    <a:bodyPr/>
                    <a:lstStyle/>
                    <a:p>
                      <a:pPr>
                        <a:buNone/>
                      </a:pPr>
                      <a:r>
                        <a:rPr lang="en-US" sz="2200"/>
                        <a:t>Builds and displays the interface. Required to override.</a:t>
                      </a:r>
                    </a:p>
                  </a:txBody>
                  <a:tcPr marL="112691" marR="112691" marT="56345" marB="56345" anchor="ctr"/>
                </a:tc>
                <a:extLst>
                  <a:ext uri="{0D108BD9-81ED-4DB2-BD59-A6C34878D82A}">
                    <a16:rowId xmlns:a16="http://schemas.microsoft.com/office/drawing/2014/main" val="3104131053"/>
                  </a:ext>
                </a:extLst>
              </a:tr>
              <a:tr h="833910">
                <a:tc>
                  <a:txBody>
                    <a:bodyPr/>
                    <a:lstStyle/>
                    <a:p>
                      <a:pPr>
                        <a:buNone/>
                      </a:pPr>
                      <a:r>
                        <a:rPr lang="en-US" sz="2200"/>
                        <a:t>Application runs</a:t>
                      </a:r>
                    </a:p>
                  </a:txBody>
                  <a:tcPr marL="112691" marR="112691" marT="56345" marB="56345" anchor="ctr"/>
                </a:tc>
                <a:tc>
                  <a:txBody>
                    <a:bodyPr/>
                    <a:lstStyle/>
                    <a:p>
                      <a:pPr>
                        <a:buNone/>
                      </a:pPr>
                      <a:r>
                        <a:rPr lang="en-US" sz="2200"/>
                        <a:t>JavaFX processes events and invokes registered handlers.</a:t>
                      </a:r>
                    </a:p>
                  </a:txBody>
                  <a:tcPr marL="112691" marR="112691" marT="56345" marB="56345" anchor="ctr"/>
                </a:tc>
                <a:extLst>
                  <a:ext uri="{0D108BD9-81ED-4DB2-BD59-A6C34878D82A}">
                    <a16:rowId xmlns:a16="http://schemas.microsoft.com/office/drawing/2014/main" val="2102795444"/>
                  </a:ext>
                </a:extLst>
              </a:tr>
              <a:tr h="833910">
                <a:tc>
                  <a:txBody>
                    <a:bodyPr/>
                    <a:lstStyle/>
                    <a:p>
                      <a:pPr>
                        <a:buNone/>
                      </a:pPr>
                      <a:r>
                        <a:rPr lang="en-US" sz="2200"/>
                        <a:t>stop()</a:t>
                      </a:r>
                    </a:p>
                  </a:txBody>
                  <a:tcPr marL="112691" marR="112691" marT="56345" marB="56345" anchor="ctr"/>
                </a:tc>
                <a:tc>
                  <a:txBody>
                    <a:bodyPr/>
                    <a:lstStyle/>
                    <a:p>
                      <a:pPr>
                        <a:buNone/>
                      </a:pPr>
                      <a:r>
                        <a:rPr lang="en-US" sz="2200"/>
                        <a:t>Performs cleanup during normal shutdown. Optional to override.</a:t>
                      </a:r>
                    </a:p>
                  </a:txBody>
                  <a:tcPr marL="112691" marR="112691" marT="56345" marB="56345" anchor="ctr"/>
                </a:tc>
                <a:extLst>
                  <a:ext uri="{0D108BD9-81ED-4DB2-BD59-A6C34878D82A}">
                    <a16:rowId xmlns:a16="http://schemas.microsoft.com/office/drawing/2014/main" val="2841706136"/>
                  </a:ext>
                </a:extLst>
              </a:tr>
            </a:tbl>
          </a:graphicData>
        </a:graphic>
      </p:graphicFrame>
    </p:spTree>
    <p:extLst>
      <p:ext uri="{BB962C8B-B14F-4D97-AF65-F5344CB8AC3E}">
        <p14:creationId xmlns:p14="http://schemas.microsoft.com/office/powerpoint/2010/main" val="2917117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15B88-42E6-FA7B-F773-DBAA5E44D5A1}"/>
              </a:ext>
            </a:extLst>
          </p:cNvPr>
          <p:cNvSpPr>
            <a:spLocks noGrp="1"/>
          </p:cNvSpPr>
          <p:nvPr>
            <p:ph type="title"/>
          </p:nvPr>
        </p:nvSpPr>
        <p:spPr/>
        <p:txBody>
          <a:bodyPr/>
          <a:lstStyle/>
          <a:p>
            <a:r>
              <a:rPr lang="en-US" dirty="0"/>
              <a:t>Overall Process</a:t>
            </a:r>
          </a:p>
        </p:txBody>
      </p:sp>
      <p:sp>
        <p:nvSpPr>
          <p:cNvPr id="3" name="Content Placeholder 2">
            <a:extLst>
              <a:ext uri="{FF2B5EF4-FFF2-40B4-BE49-F238E27FC236}">
                <a16:creationId xmlns:a16="http://schemas.microsoft.com/office/drawing/2014/main" id="{F61F8CF6-0585-3293-2156-D48E591026D0}"/>
              </a:ext>
            </a:extLst>
          </p:cNvPr>
          <p:cNvSpPr>
            <a:spLocks noGrp="1"/>
          </p:cNvSpPr>
          <p:nvPr>
            <p:ph idx="1"/>
          </p:nvPr>
        </p:nvSpPr>
        <p:spPr/>
        <p:txBody>
          <a:bodyPr/>
          <a:lstStyle/>
          <a:p>
            <a:endParaRPr lang="en-US" dirty="0"/>
          </a:p>
          <a:p>
            <a:endParaRPr lang="en-US" dirty="0"/>
          </a:p>
          <a:p>
            <a:r>
              <a:rPr lang="en-US" dirty="0"/>
              <a:t>We extend Application, put controls inside a layout, place that layout in a Scene, and display the scene in a Stage. </a:t>
            </a:r>
          </a:p>
          <a:p>
            <a:endParaRPr lang="en-US" dirty="0"/>
          </a:p>
          <a:p>
            <a:r>
              <a:rPr lang="en-US" dirty="0"/>
              <a:t>Calling launch() starts JavaFX, which manages setup, user events, and shutdown.</a:t>
            </a:r>
          </a:p>
        </p:txBody>
      </p:sp>
    </p:spTree>
    <p:extLst>
      <p:ext uri="{BB962C8B-B14F-4D97-AF65-F5344CB8AC3E}">
        <p14:creationId xmlns:p14="http://schemas.microsoft.com/office/powerpoint/2010/main" val="2596476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7D868-E9F2-7C12-9F5B-72D8DB9D5DDF}"/>
              </a:ext>
            </a:extLst>
          </p:cNvPr>
          <p:cNvSpPr>
            <a:spLocks noGrp="1"/>
          </p:cNvSpPr>
          <p:nvPr>
            <p:ph type="title"/>
          </p:nvPr>
        </p:nvSpPr>
        <p:spPr/>
        <p:txBody>
          <a:bodyPr/>
          <a:lstStyle/>
          <a:p>
            <a:r>
              <a:rPr lang="en-US" dirty="0"/>
              <a:t>To-Do 01</a:t>
            </a:r>
          </a:p>
        </p:txBody>
      </p:sp>
      <p:sp>
        <p:nvSpPr>
          <p:cNvPr id="3" name="Content Placeholder 2">
            <a:extLst>
              <a:ext uri="{FF2B5EF4-FFF2-40B4-BE49-F238E27FC236}">
                <a16:creationId xmlns:a16="http://schemas.microsoft.com/office/drawing/2014/main" id="{2467A67F-4859-751C-1C7C-FC725CCE057D}"/>
              </a:ext>
            </a:extLst>
          </p:cNvPr>
          <p:cNvSpPr>
            <a:spLocks noGrp="1"/>
          </p:cNvSpPr>
          <p:nvPr>
            <p:ph idx="1"/>
          </p:nvPr>
        </p:nvSpPr>
        <p:spPr/>
        <p:txBody>
          <a:bodyPr/>
          <a:lstStyle/>
          <a:p>
            <a:endParaRPr lang="en-US" dirty="0"/>
          </a:p>
          <a:p>
            <a:endParaRPr lang="en-US" dirty="0"/>
          </a:p>
          <a:p>
            <a:r>
              <a:rPr lang="en-US" dirty="0"/>
              <a:t>Install Maven</a:t>
            </a:r>
          </a:p>
          <a:p>
            <a:r>
              <a:rPr lang="en-US" dirty="0"/>
              <a:t>Setup your first project.</a:t>
            </a:r>
          </a:p>
          <a:p>
            <a:r>
              <a:rPr lang="en-US" dirty="0"/>
              <a:t>Modify the text in the label.</a:t>
            </a:r>
          </a:p>
        </p:txBody>
      </p:sp>
    </p:spTree>
    <p:extLst>
      <p:ext uri="{BB962C8B-B14F-4D97-AF65-F5344CB8AC3E}">
        <p14:creationId xmlns:p14="http://schemas.microsoft.com/office/powerpoint/2010/main" val="3517738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8F0D7-CF3C-D1A0-C82F-036144639BEF}"/>
              </a:ext>
            </a:extLst>
          </p:cNvPr>
          <p:cNvSpPr>
            <a:spLocks noGrp="1"/>
          </p:cNvSpPr>
          <p:nvPr>
            <p:ph type="title"/>
          </p:nvPr>
        </p:nvSpPr>
        <p:spPr/>
        <p:txBody>
          <a:bodyPr/>
          <a:lstStyle/>
          <a:p>
            <a:r>
              <a:rPr lang="en-US" dirty="0"/>
              <a:t>To-Do 02 …</a:t>
            </a:r>
          </a:p>
        </p:txBody>
      </p:sp>
      <p:sp>
        <p:nvSpPr>
          <p:cNvPr id="3" name="Content Placeholder 2">
            <a:extLst>
              <a:ext uri="{FF2B5EF4-FFF2-40B4-BE49-F238E27FC236}">
                <a16:creationId xmlns:a16="http://schemas.microsoft.com/office/drawing/2014/main" id="{3D2A524F-C59D-C61D-45BB-5FB708762A1C}"/>
              </a:ext>
            </a:extLst>
          </p:cNvPr>
          <p:cNvSpPr>
            <a:spLocks noGrp="1"/>
          </p:cNvSpPr>
          <p:nvPr>
            <p:ph idx="1"/>
          </p:nvPr>
        </p:nvSpPr>
        <p:spPr/>
        <p:txBody>
          <a:bodyPr/>
          <a:lstStyle/>
          <a:p>
            <a:endParaRPr lang="en-US" dirty="0"/>
          </a:p>
          <a:p>
            <a:r>
              <a:rPr lang="en-US" dirty="0"/>
              <a:t>Create a new project on your own. </a:t>
            </a:r>
          </a:p>
          <a:p>
            <a:r>
              <a:rPr lang="en-US" dirty="0"/>
              <a:t>Follow similar instructions as stated in the </a:t>
            </a:r>
            <a:r>
              <a:rPr lang="en-US" dirty="0" err="1"/>
              <a:t>README.md</a:t>
            </a:r>
            <a:endParaRPr lang="en-US" dirty="0"/>
          </a:p>
          <a:p>
            <a:pPr lvl="1"/>
            <a:endParaRPr lang="en-US" dirty="0"/>
          </a:p>
          <a:p>
            <a:pPr lvl="1"/>
            <a:r>
              <a:rPr lang="en-US" dirty="0"/>
              <a:t>Create a new app </a:t>
            </a:r>
            <a:r>
              <a:rPr lang="en-US" b="1" dirty="0"/>
              <a:t>HelloJavaFX0 </a:t>
            </a:r>
            <a:r>
              <a:rPr lang="en-US" dirty="0"/>
              <a:t>[source code provided]</a:t>
            </a:r>
          </a:p>
          <a:p>
            <a:pPr lvl="1"/>
            <a:endParaRPr lang="en-US" dirty="0"/>
          </a:p>
          <a:p>
            <a:pPr lvl="1"/>
            <a:r>
              <a:rPr lang="en-US" dirty="0" err="1"/>
              <a:t>pom.xml</a:t>
            </a:r>
            <a:r>
              <a:rPr lang="en-US" dirty="0"/>
              <a:t> [make adjustments to the pom [</a:t>
            </a:r>
            <a:r>
              <a:rPr lang="en-US" dirty="0" err="1"/>
              <a:t>mainclass</a:t>
            </a:r>
            <a:r>
              <a:rPr lang="en-US" dirty="0"/>
              <a:t>] </a:t>
            </a:r>
          </a:p>
          <a:p>
            <a:pPr lvl="2"/>
            <a:r>
              <a:rPr lang="en-US" dirty="0">
                <a:solidFill>
                  <a:srgbClr val="9437FF"/>
                </a:solidFill>
              </a:rPr>
              <a:t>&lt;</a:t>
            </a:r>
            <a:r>
              <a:rPr lang="en-US" dirty="0" err="1">
                <a:solidFill>
                  <a:srgbClr val="9437FF"/>
                </a:solidFill>
              </a:rPr>
              <a:t>mainClass</a:t>
            </a:r>
            <a:r>
              <a:rPr lang="en-US" dirty="0">
                <a:solidFill>
                  <a:srgbClr val="9437FF"/>
                </a:solidFill>
              </a:rPr>
              <a:t>&gt;</a:t>
            </a:r>
            <a:r>
              <a:rPr lang="en-US" b="1" dirty="0">
                <a:solidFill>
                  <a:srgbClr val="9437FF"/>
                </a:solidFill>
              </a:rPr>
              <a:t>demo.HelloJavaFX0</a:t>
            </a:r>
            <a:r>
              <a:rPr lang="en-US" dirty="0">
                <a:solidFill>
                  <a:srgbClr val="9437FF"/>
                </a:solidFill>
              </a:rPr>
              <a:t>&lt;/</a:t>
            </a:r>
            <a:r>
              <a:rPr lang="en-US" dirty="0" err="1">
                <a:solidFill>
                  <a:srgbClr val="9437FF"/>
                </a:solidFill>
              </a:rPr>
              <a:t>mainClass</a:t>
            </a:r>
            <a:r>
              <a:rPr lang="en-US" dirty="0">
                <a:solidFill>
                  <a:srgbClr val="9437FF"/>
                </a:solidFill>
              </a:rPr>
              <a:t>&gt;</a:t>
            </a:r>
          </a:p>
          <a:p>
            <a:pPr lvl="1"/>
            <a:endParaRPr lang="en-US" dirty="0"/>
          </a:p>
          <a:p>
            <a:pPr lvl="1"/>
            <a:r>
              <a:rPr lang="en-US" dirty="0"/>
              <a:t>Run and show the outcome.</a:t>
            </a:r>
          </a:p>
        </p:txBody>
      </p:sp>
    </p:spTree>
    <p:extLst>
      <p:ext uri="{BB962C8B-B14F-4D97-AF65-F5344CB8AC3E}">
        <p14:creationId xmlns:p14="http://schemas.microsoft.com/office/powerpoint/2010/main" val="3975215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7CE7E-5D83-9875-A4F7-3ED3A3CBE9E9}"/>
              </a:ext>
            </a:extLst>
          </p:cNvPr>
          <p:cNvSpPr>
            <a:spLocks noGrp="1"/>
          </p:cNvSpPr>
          <p:nvPr>
            <p:ph type="title"/>
          </p:nvPr>
        </p:nvSpPr>
        <p:spPr/>
        <p:txBody>
          <a:bodyPr/>
          <a:lstStyle/>
          <a:p>
            <a:r>
              <a:rPr lang="en-US" dirty="0"/>
              <a:t>To-Do 03 …</a:t>
            </a:r>
          </a:p>
        </p:txBody>
      </p:sp>
      <p:sp>
        <p:nvSpPr>
          <p:cNvPr id="4" name="Text Placeholder 3">
            <a:extLst>
              <a:ext uri="{FF2B5EF4-FFF2-40B4-BE49-F238E27FC236}">
                <a16:creationId xmlns:a16="http://schemas.microsoft.com/office/drawing/2014/main" id="{DB162489-8A8A-A5BA-F07F-CFDD2595B741}"/>
              </a:ext>
            </a:extLst>
          </p:cNvPr>
          <p:cNvSpPr>
            <a:spLocks noGrp="1"/>
          </p:cNvSpPr>
          <p:nvPr>
            <p:ph type="body" sz="half" idx="2"/>
          </p:nvPr>
        </p:nvSpPr>
        <p:spPr/>
        <p:txBody>
          <a:bodyPr/>
          <a:lstStyle/>
          <a:p>
            <a:endParaRPr lang="en-US" dirty="0"/>
          </a:p>
          <a:p>
            <a:endParaRPr lang="en-US" dirty="0"/>
          </a:p>
          <a:p>
            <a:pPr marL="228600" indent="-228600">
              <a:buFont typeface="Arial" panose="020B0604020202020204" pitchFamily="34" charset="0"/>
              <a:buChar char="•"/>
            </a:pPr>
            <a:r>
              <a:rPr lang="en-US" dirty="0"/>
              <a:t>In the same project you created HelloJavaFX0, create a new app </a:t>
            </a:r>
            <a:r>
              <a:rPr lang="en-US" b="1" dirty="0"/>
              <a:t>HelloJavaFX1</a:t>
            </a:r>
            <a:r>
              <a:rPr lang="en-US" dirty="0"/>
              <a:t>. </a:t>
            </a:r>
          </a:p>
          <a:p>
            <a:pPr marL="228600" indent="-228600">
              <a:buFont typeface="Arial" panose="020B0604020202020204" pitchFamily="34" charset="0"/>
              <a:buChar char="•"/>
            </a:pPr>
            <a:endParaRPr lang="en-US" dirty="0"/>
          </a:p>
          <a:p>
            <a:pPr marL="228600" indent="-228600">
              <a:buFont typeface="Arial" panose="020B0604020202020204" pitchFamily="34" charset="0"/>
              <a:buChar char="•"/>
            </a:pPr>
            <a:r>
              <a:rPr lang="en-US" dirty="0"/>
              <a:t>Run it and notice the differences. </a:t>
            </a:r>
          </a:p>
          <a:p>
            <a:pPr marL="228600" indent="-228600">
              <a:buFont typeface="Arial" panose="020B0604020202020204" pitchFamily="34" charset="0"/>
              <a:buChar char="•"/>
            </a:pPr>
            <a:endParaRPr lang="en-US" dirty="0"/>
          </a:p>
          <a:p>
            <a:pPr marL="228600" indent="-228600">
              <a:buFont typeface="Arial" panose="020B0604020202020204" pitchFamily="34" charset="0"/>
              <a:buChar char="•"/>
            </a:pPr>
            <a:r>
              <a:rPr lang="en-US" dirty="0"/>
              <a:t>Try to explain the </a:t>
            </a:r>
            <a:r>
              <a:rPr lang="en-US" dirty="0" err="1"/>
              <a:t>setOnAction</a:t>
            </a:r>
            <a:r>
              <a:rPr lang="en-US" dirty="0"/>
              <a:t> method.</a:t>
            </a:r>
          </a:p>
          <a:p>
            <a:endParaRPr lang="en-US" dirty="0"/>
          </a:p>
        </p:txBody>
      </p:sp>
      <p:pic>
        <p:nvPicPr>
          <p:cNvPr id="8" name="Content Placeholder 7">
            <a:extLst>
              <a:ext uri="{FF2B5EF4-FFF2-40B4-BE49-F238E27FC236}">
                <a16:creationId xmlns:a16="http://schemas.microsoft.com/office/drawing/2014/main" id="{3DFD857C-34AB-4572-F5DC-40AD46054665}"/>
              </a:ext>
            </a:extLst>
          </p:cNvPr>
          <p:cNvPicPr>
            <a:picLocks noGrp="1" noChangeAspect="1"/>
          </p:cNvPicPr>
          <p:nvPr>
            <p:ph idx="1"/>
          </p:nvPr>
        </p:nvPicPr>
        <p:blipFill>
          <a:blip r:embed="rId2"/>
          <a:stretch>
            <a:fillRect/>
          </a:stretch>
        </p:blipFill>
        <p:spPr>
          <a:xfrm>
            <a:off x="4602421" y="2057400"/>
            <a:ext cx="7333358" cy="3283191"/>
          </a:xfrm>
          <a:prstGeom prst="rect">
            <a:avLst/>
          </a:prstGeom>
        </p:spPr>
      </p:pic>
    </p:spTree>
    <p:extLst>
      <p:ext uri="{BB962C8B-B14F-4D97-AF65-F5344CB8AC3E}">
        <p14:creationId xmlns:p14="http://schemas.microsoft.com/office/powerpoint/2010/main" val="12546149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E715B0B-5A80-AA91-1471-7B8F8FE35729}"/>
              </a:ext>
            </a:extLst>
          </p:cNvPr>
          <p:cNvSpPr>
            <a:spLocks noGrp="1"/>
          </p:cNvSpPr>
          <p:nvPr>
            <p:ph type="title"/>
          </p:nvPr>
        </p:nvSpPr>
        <p:spPr/>
        <p:txBody>
          <a:bodyPr/>
          <a:lstStyle/>
          <a:p>
            <a:r>
              <a:rPr lang="en-US" dirty="0"/>
              <a:t>To-Do 03 [hints]</a:t>
            </a:r>
          </a:p>
        </p:txBody>
      </p:sp>
      <p:sp>
        <p:nvSpPr>
          <p:cNvPr id="6" name="Content Placeholder 5">
            <a:extLst>
              <a:ext uri="{FF2B5EF4-FFF2-40B4-BE49-F238E27FC236}">
                <a16:creationId xmlns:a16="http://schemas.microsoft.com/office/drawing/2014/main" id="{124C813B-3FFA-0247-0AB5-20530FC9A205}"/>
              </a:ext>
            </a:extLst>
          </p:cNvPr>
          <p:cNvSpPr>
            <a:spLocks noGrp="1"/>
          </p:cNvSpPr>
          <p:nvPr>
            <p:ph idx="1"/>
          </p:nvPr>
        </p:nvSpPr>
        <p:spPr/>
        <p:txBody>
          <a:bodyPr/>
          <a:lstStyle/>
          <a:p>
            <a:endParaRPr lang="en-US" dirty="0"/>
          </a:p>
          <a:p>
            <a:r>
              <a:rPr lang="en-US" dirty="0" err="1">
                <a:solidFill>
                  <a:srgbClr val="9437FF"/>
                </a:solidFill>
              </a:rPr>
              <a:t>greetButton.setOnAction</a:t>
            </a:r>
            <a:r>
              <a:rPr lang="en-US" dirty="0">
                <a:solidFill>
                  <a:srgbClr val="9437FF"/>
                </a:solidFill>
              </a:rPr>
              <a:t>(event -&gt; { ….});</a:t>
            </a:r>
          </a:p>
          <a:p>
            <a:endParaRPr lang="en-US" dirty="0"/>
          </a:p>
          <a:p>
            <a:pPr lvl="1"/>
            <a:r>
              <a:rPr lang="en-US" dirty="0"/>
              <a:t>Registers an </a:t>
            </a:r>
            <a:r>
              <a:rPr lang="en-US" b="1" dirty="0" err="1"/>
              <a:t>EventHandler</a:t>
            </a:r>
            <a:r>
              <a:rPr lang="en-US" dirty="0"/>
              <a:t> using a lambda expression.</a:t>
            </a:r>
          </a:p>
          <a:p>
            <a:pPr lvl="1"/>
            <a:r>
              <a:rPr lang="en-US" dirty="0"/>
              <a:t>JavaFX runs the code inside the braces when the button is activated.</a:t>
            </a:r>
          </a:p>
          <a:p>
            <a:pPr lvl="1"/>
            <a:endParaRPr lang="en-US" dirty="0"/>
          </a:p>
          <a:p>
            <a:r>
              <a:rPr lang="en-US" dirty="0"/>
              <a:t>Registering the handler does not execute its code immediately.</a:t>
            </a:r>
          </a:p>
          <a:p>
            <a:r>
              <a:rPr lang="en-US" dirty="0"/>
              <a:t>The code runs each time the button is activated, using the text currently in the field.</a:t>
            </a:r>
          </a:p>
        </p:txBody>
      </p:sp>
    </p:spTree>
    <p:extLst>
      <p:ext uri="{BB962C8B-B14F-4D97-AF65-F5344CB8AC3E}">
        <p14:creationId xmlns:p14="http://schemas.microsoft.com/office/powerpoint/2010/main" val="26423534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683EB-06AE-EDC2-75B2-DDA647487E79}"/>
              </a:ext>
            </a:extLst>
          </p:cNvPr>
          <p:cNvSpPr>
            <a:spLocks noGrp="1"/>
          </p:cNvSpPr>
          <p:nvPr>
            <p:ph type="title"/>
          </p:nvPr>
        </p:nvSpPr>
        <p:spPr/>
        <p:txBody>
          <a:bodyPr/>
          <a:lstStyle/>
          <a:p>
            <a:r>
              <a:rPr lang="en-US" dirty="0"/>
              <a:t>Practice …</a:t>
            </a:r>
          </a:p>
        </p:txBody>
      </p:sp>
      <p:sp>
        <p:nvSpPr>
          <p:cNvPr id="3" name="Content Placeholder 2">
            <a:extLst>
              <a:ext uri="{FF2B5EF4-FFF2-40B4-BE49-F238E27FC236}">
                <a16:creationId xmlns:a16="http://schemas.microsoft.com/office/drawing/2014/main" id="{A5A7A0B8-34CA-B131-CFD1-40E25834BB26}"/>
              </a:ext>
            </a:extLst>
          </p:cNvPr>
          <p:cNvSpPr>
            <a:spLocks noGrp="1"/>
          </p:cNvSpPr>
          <p:nvPr>
            <p:ph idx="1"/>
          </p:nvPr>
        </p:nvSpPr>
        <p:spPr/>
        <p:txBody>
          <a:bodyPr/>
          <a:lstStyle/>
          <a:p>
            <a:endParaRPr lang="en-US" dirty="0"/>
          </a:p>
          <a:p>
            <a:endParaRPr lang="en-US" dirty="0"/>
          </a:p>
          <a:p>
            <a:r>
              <a:rPr lang="en-US" dirty="0"/>
              <a:t>Check what </a:t>
            </a:r>
            <a:r>
              <a:rPr lang="en-US" dirty="0">
                <a:solidFill>
                  <a:srgbClr val="9437FF"/>
                </a:solidFill>
              </a:rPr>
              <a:t>HelloJavaFX2.java </a:t>
            </a:r>
            <a:r>
              <a:rPr lang="en-US" dirty="0"/>
              <a:t>does.</a:t>
            </a:r>
          </a:p>
          <a:p>
            <a:r>
              <a:rPr lang="en-US" dirty="0"/>
              <a:t>Try to modify a few things that you would like.</a:t>
            </a:r>
          </a:p>
        </p:txBody>
      </p:sp>
    </p:spTree>
    <p:extLst>
      <p:ext uri="{BB962C8B-B14F-4D97-AF65-F5344CB8AC3E}">
        <p14:creationId xmlns:p14="http://schemas.microsoft.com/office/powerpoint/2010/main" val="1928793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3DBA7-B570-A0FE-3292-6C98ACC76EBB}"/>
              </a:ext>
            </a:extLst>
          </p:cNvPr>
          <p:cNvSpPr>
            <a:spLocks noGrp="1"/>
          </p:cNvSpPr>
          <p:nvPr>
            <p:ph type="title"/>
          </p:nvPr>
        </p:nvSpPr>
        <p:spPr/>
        <p:txBody>
          <a:bodyPr/>
          <a:lstStyle/>
          <a:p>
            <a:r>
              <a:rPr lang="en-US" dirty="0"/>
              <a:t>More next class …</a:t>
            </a:r>
          </a:p>
        </p:txBody>
      </p:sp>
      <p:sp>
        <p:nvSpPr>
          <p:cNvPr id="3" name="Content Placeholder 2">
            <a:extLst>
              <a:ext uri="{FF2B5EF4-FFF2-40B4-BE49-F238E27FC236}">
                <a16:creationId xmlns:a16="http://schemas.microsoft.com/office/drawing/2014/main" id="{1B4A9E53-4705-303B-0EB5-04BCA9051B31}"/>
              </a:ext>
            </a:extLst>
          </p:cNvPr>
          <p:cNvSpPr>
            <a:spLocks noGrp="1"/>
          </p:cNvSpPr>
          <p:nvPr>
            <p:ph idx="1"/>
          </p:nvPr>
        </p:nvSpPr>
        <p:spPr/>
        <p:txBody>
          <a:bodyPr/>
          <a:lstStyle/>
          <a:p>
            <a:endParaRPr lang="en-US" dirty="0"/>
          </a:p>
          <a:p>
            <a:endParaRPr lang="en-US" dirty="0"/>
          </a:p>
        </p:txBody>
      </p:sp>
      <p:graphicFrame>
        <p:nvGraphicFramePr>
          <p:cNvPr id="4" name="Table 3">
            <a:extLst>
              <a:ext uri="{FF2B5EF4-FFF2-40B4-BE49-F238E27FC236}">
                <a16:creationId xmlns:a16="http://schemas.microsoft.com/office/drawing/2014/main" id="{8F327135-FB95-F94E-ED37-5A2EA7692600}"/>
              </a:ext>
            </a:extLst>
          </p:cNvPr>
          <p:cNvGraphicFramePr>
            <a:graphicFrameLocks noGrp="1"/>
          </p:cNvGraphicFramePr>
          <p:nvPr>
            <p:extLst>
              <p:ext uri="{D42A27DB-BD31-4B8C-83A1-F6EECF244321}">
                <p14:modId xmlns:p14="http://schemas.microsoft.com/office/powerpoint/2010/main" val="894243356"/>
              </p:ext>
            </p:extLst>
          </p:nvPr>
        </p:nvGraphicFramePr>
        <p:xfrm>
          <a:off x="838200" y="1852454"/>
          <a:ext cx="10515600" cy="429768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33434738"/>
                    </a:ext>
                  </a:extLst>
                </a:gridCol>
                <a:gridCol w="5257800">
                  <a:extLst>
                    <a:ext uri="{9D8B030D-6E8A-4147-A177-3AD203B41FA5}">
                      <a16:colId xmlns:a16="http://schemas.microsoft.com/office/drawing/2014/main" val="3402366500"/>
                    </a:ext>
                  </a:extLst>
                </a:gridCol>
              </a:tblGrid>
              <a:tr h="0">
                <a:tc>
                  <a:txBody>
                    <a:bodyPr/>
                    <a:lstStyle/>
                    <a:p>
                      <a:pPr>
                        <a:buNone/>
                      </a:pPr>
                      <a:r>
                        <a:rPr lang="en-US" b="1" dirty="0"/>
                        <a:t>Method</a:t>
                      </a:r>
                    </a:p>
                  </a:txBody>
                  <a:tcPr anchor="ctr"/>
                </a:tc>
                <a:tc>
                  <a:txBody>
                    <a:bodyPr/>
                    <a:lstStyle/>
                    <a:p>
                      <a:pPr>
                        <a:buNone/>
                      </a:pPr>
                      <a:r>
                        <a:rPr lang="en-US" b="1" dirty="0"/>
                        <a:t>When the handler runs</a:t>
                      </a:r>
                    </a:p>
                  </a:txBody>
                  <a:tcPr anchor="ctr"/>
                </a:tc>
                <a:extLst>
                  <a:ext uri="{0D108BD9-81ED-4DB2-BD59-A6C34878D82A}">
                    <a16:rowId xmlns:a16="http://schemas.microsoft.com/office/drawing/2014/main" val="325462816"/>
                  </a:ext>
                </a:extLst>
              </a:tr>
              <a:tr h="0">
                <a:tc>
                  <a:txBody>
                    <a:bodyPr/>
                    <a:lstStyle/>
                    <a:p>
                      <a:pPr>
                        <a:buNone/>
                      </a:pPr>
                      <a:r>
                        <a:rPr lang="en-US"/>
                        <a:t>setOnMouseClicked(...)</a:t>
                      </a:r>
                    </a:p>
                  </a:txBody>
                  <a:tcPr anchor="ctr"/>
                </a:tc>
                <a:tc>
                  <a:txBody>
                    <a:bodyPr/>
                    <a:lstStyle/>
                    <a:p>
                      <a:pPr>
                        <a:buNone/>
                      </a:pPr>
                      <a:r>
                        <a:rPr lang="en-US"/>
                        <a:t>A mouse click occurs on the component</a:t>
                      </a:r>
                    </a:p>
                  </a:txBody>
                  <a:tcPr anchor="ctr"/>
                </a:tc>
                <a:extLst>
                  <a:ext uri="{0D108BD9-81ED-4DB2-BD59-A6C34878D82A}">
                    <a16:rowId xmlns:a16="http://schemas.microsoft.com/office/drawing/2014/main" val="886510045"/>
                  </a:ext>
                </a:extLst>
              </a:tr>
              <a:tr h="0">
                <a:tc>
                  <a:txBody>
                    <a:bodyPr/>
                    <a:lstStyle/>
                    <a:p>
                      <a:pPr>
                        <a:buNone/>
                      </a:pPr>
                      <a:r>
                        <a:rPr lang="en-US"/>
                        <a:t>setOnMousePressed(...)</a:t>
                      </a:r>
                    </a:p>
                  </a:txBody>
                  <a:tcPr anchor="ctr"/>
                </a:tc>
                <a:tc>
                  <a:txBody>
                    <a:bodyPr/>
                    <a:lstStyle/>
                    <a:p>
                      <a:pPr>
                        <a:buNone/>
                      </a:pPr>
                      <a:r>
                        <a:rPr lang="en-US"/>
                        <a:t>A mouse button is pressed</a:t>
                      </a:r>
                    </a:p>
                  </a:txBody>
                  <a:tcPr anchor="ctr"/>
                </a:tc>
                <a:extLst>
                  <a:ext uri="{0D108BD9-81ED-4DB2-BD59-A6C34878D82A}">
                    <a16:rowId xmlns:a16="http://schemas.microsoft.com/office/drawing/2014/main" val="470457801"/>
                  </a:ext>
                </a:extLst>
              </a:tr>
              <a:tr h="0">
                <a:tc>
                  <a:txBody>
                    <a:bodyPr/>
                    <a:lstStyle/>
                    <a:p>
                      <a:pPr>
                        <a:buNone/>
                      </a:pPr>
                      <a:r>
                        <a:rPr lang="en-US"/>
                        <a:t>setOnMouseReleased(...)</a:t>
                      </a:r>
                    </a:p>
                  </a:txBody>
                  <a:tcPr anchor="ctr"/>
                </a:tc>
                <a:tc>
                  <a:txBody>
                    <a:bodyPr/>
                    <a:lstStyle/>
                    <a:p>
                      <a:pPr>
                        <a:buNone/>
                      </a:pPr>
                      <a:r>
                        <a:rPr lang="en-US"/>
                        <a:t>A mouse button is released</a:t>
                      </a:r>
                    </a:p>
                  </a:txBody>
                  <a:tcPr anchor="ctr"/>
                </a:tc>
                <a:extLst>
                  <a:ext uri="{0D108BD9-81ED-4DB2-BD59-A6C34878D82A}">
                    <a16:rowId xmlns:a16="http://schemas.microsoft.com/office/drawing/2014/main" val="2314644696"/>
                  </a:ext>
                </a:extLst>
              </a:tr>
              <a:tr h="0">
                <a:tc>
                  <a:txBody>
                    <a:bodyPr/>
                    <a:lstStyle/>
                    <a:p>
                      <a:pPr>
                        <a:buNone/>
                      </a:pPr>
                      <a:r>
                        <a:rPr lang="en-US"/>
                        <a:t>setOnMouseEntered(...)</a:t>
                      </a:r>
                    </a:p>
                  </a:txBody>
                  <a:tcPr anchor="ctr"/>
                </a:tc>
                <a:tc>
                  <a:txBody>
                    <a:bodyPr/>
                    <a:lstStyle/>
                    <a:p>
                      <a:pPr>
                        <a:buNone/>
                      </a:pPr>
                      <a:r>
                        <a:rPr lang="en-US"/>
                        <a:t>The pointer enters the component</a:t>
                      </a:r>
                    </a:p>
                  </a:txBody>
                  <a:tcPr anchor="ctr"/>
                </a:tc>
                <a:extLst>
                  <a:ext uri="{0D108BD9-81ED-4DB2-BD59-A6C34878D82A}">
                    <a16:rowId xmlns:a16="http://schemas.microsoft.com/office/drawing/2014/main" val="1746775091"/>
                  </a:ext>
                </a:extLst>
              </a:tr>
              <a:tr h="0">
                <a:tc>
                  <a:txBody>
                    <a:bodyPr/>
                    <a:lstStyle/>
                    <a:p>
                      <a:pPr>
                        <a:buNone/>
                      </a:pPr>
                      <a:r>
                        <a:rPr lang="en-US"/>
                        <a:t>setOnMouseExited(...)</a:t>
                      </a:r>
                    </a:p>
                  </a:txBody>
                  <a:tcPr anchor="ctr"/>
                </a:tc>
                <a:tc>
                  <a:txBody>
                    <a:bodyPr/>
                    <a:lstStyle/>
                    <a:p>
                      <a:pPr>
                        <a:buNone/>
                      </a:pPr>
                      <a:r>
                        <a:rPr lang="en-US"/>
                        <a:t>The pointer leaves the component</a:t>
                      </a:r>
                    </a:p>
                  </a:txBody>
                  <a:tcPr anchor="ctr"/>
                </a:tc>
                <a:extLst>
                  <a:ext uri="{0D108BD9-81ED-4DB2-BD59-A6C34878D82A}">
                    <a16:rowId xmlns:a16="http://schemas.microsoft.com/office/drawing/2014/main" val="3092117928"/>
                  </a:ext>
                </a:extLst>
              </a:tr>
              <a:tr h="0">
                <a:tc>
                  <a:txBody>
                    <a:bodyPr/>
                    <a:lstStyle/>
                    <a:p>
                      <a:pPr>
                        <a:buNone/>
                      </a:pPr>
                      <a:r>
                        <a:rPr lang="en-US"/>
                        <a:t>setOnMouseMoved(...)</a:t>
                      </a:r>
                    </a:p>
                  </a:txBody>
                  <a:tcPr anchor="ctr"/>
                </a:tc>
                <a:tc>
                  <a:txBody>
                    <a:bodyPr/>
                    <a:lstStyle/>
                    <a:p>
                      <a:pPr>
                        <a:buNone/>
                      </a:pPr>
                      <a:r>
                        <a:rPr lang="en-US"/>
                        <a:t>The pointer moves within the component</a:t>
                      </a:r>
                    </a:p>
                  </a:txBody>
                  <a:tcPr anchor="ctr"/>
                </a:tc>
                <a:extLst>
                  <a:ext uri="{0D108BD9-81ED-4DB2-BD59-A6C34878D82A}">
                    <a16:rowId xmlns:a16="http://schemas.microsoft.com/office/drawing/2014/main" val="2577462714"/>
                  </a:ext>
                </a:extLst>
              </a:tr>
              <a:tr h="0">
                <a:tc>
                  <a:txBody>
                    <a:bodyPr/>
                    <a:lstStyle/>
                    <a:p>
                      <a:pPr>
                        <a:buNone/>
                      </a:pPr>
                      <a:r>
                        <a:rPr lang="en-US"/>
                        <a:t>setOnKeyPressed(...)</a:t>
                      </a:r>
                    </a:p>
                  </a:txBody>
                  <a:tcPr anchor="ctr"/>
                </a:tc>
                <a:tc>
                  <a:txBody>
                    <a:bodyPr/>
                    <a:lstStyle/>
                    <a:p>
                      <a:pPr>
                        <a:buNone/>
                      </a:pPr>
                      <a:r>
                        <a:rPr lang="en-US"/>
                        <a:t>A key is pressed while the component has keyboard focus</a:t>
                      </a:r>
                    </a:p>
                  </a:txBody>
                  <a:tcPr anchor="ctr"/>
                </a:tc>
                <a:extLst>
                  <a:ext uri="{0D108BD9-81ED-4DB2-BD59-A6C34878D82A}">
                    <a16:rowId xmlns:a16="http://schemas.microsoft.com/office/drawing/2014/main" val="526594623"/>
                  </a:ext>
                </a:extLst>
              </a:tr>
              <a:tr h="0">
                <a:tc>
                  <a:txBody>
                    <a:bodyPr/>
                    <a:lstStyle/>
                    <a:p>
                      <a:pPr>
                        <a:buNone/>
                      </a:pPr>
                      <a:r>
                        <a:rPr lang="en-US"/>
                        <a:t>setOnKeyReleased(...)</a:t>
                      </a:r>
                    </a:p>
                  </a:txBody>
                  <a:tcPr anchor="ctr"/>
                </a:tc>
                <a:tc>
                  <a:txBody>
                    <a:bodyPr/>
                    <a:lstStyle/>
                    <a:p>
                      <a:pPr>
                        <a:buNone/>
                      </a:pPr>
                      <a:r>
                        <a:rPr lang="en-US"/>
                        <a:t>A key is released</a:t>
                      </a:r>
                    </a:p>
                  </a:txBody>
                  <a:tcPr anchor="ctr"/>
                </a:tc>
                <a:extLst>
                  <a:ext uri="{0D108BD9-81ED-4DB2-BD59-A6C34878D82A}">
                    <a16:rowId xmlns:a16="http://schemas.microsoft.com/office/drawing/2014/main" val="73305274"/>
                  </a:ext>
                </a:extLst>
              </a:tr>
              <a:tr h="0">
                <a:tc>
                  <a:txBody>
                    <a:bodyPr/>
                    <a:lstStyle/>
                    <a:p>
                      <a:pPr>
                        <a:buNone/>
                      </a:pPr>
                      <a:r>
                        <a:rPr lang="en-US"/>
                        <a:t>setOnKeyTyped(...)</a:t>
                      </a:r>
                    </a:p>
                  </a:txBody>
                  <a:tcPr anchor="ctr"/>
                </a:tc>
                <a:tc>
                  <a:txBody>
                    <a:bodyPr/>
                    <a:lstStyle/>
                    <a:p>
                      <a:pPr>
                        <a:buNone/>
                      </a:pPr>
                      <a:r>
                        <a:rPr lang="en-US" dirty="0"/>
                        <a:t>Character input occurs</a:t>
                      </a:r>
                    </a:p>
                  </a:txBody>
                  <a:tcPr anchor="ctr"/>
                </a:tc>
                <a:extLst>
                  <a:ext uri="{0D108BD9-81ED-4DB2-BD59-A6C34878D82A}">
                    <a16:rowId xmlns:a16="http://schemas.microsoft.com/office/drawing/2014/main" val="2253000658"/>
                  </a:ext>
                </a:extLst>
              </a:tr>
              <a:tr h="0">
                <a:tc>
                  <a:txBody>
                    <a:bodyPr/>
                    <a:lstStyle/>
                    <a:p>
                      <a:pPr>
                        <a:buNone/>
                      </a:pPr>
                      <a:r>
                        <a:rPr lang="en-US"/>
                        <a:t>stage.setOnCloseRequest(...)</a:t>
                      </a:r>
                    </a:p>
                  </a:txBody>
                  <a:tcPr anchor="ctr"/>
                </a:tc>
                <a:tc>
                  <a:txBody>
                    <a:bodyPr/>
                    <a:lstStyle/>
                    <a:p>
                      <a:pPr>
                        <a:buNone/>
                      </a:pPr>
                      <a:r>
                        <a:rPr lang="en-US" dirty="0"/>
                        <a:t>A request is made to close the window</a:t>
                      </a:r>
                    </a:p>
                  </a:txBody>
                  <a:tcPr anchor="ctr"/>
                </a:tc>
                <a:extLst>
                  <a:ext uri="{0D108BD9-81ED-4DB2-BD59-A6C34878D82A}">
                    <a16:rowId xmlns:a16="http://schemas.microsoft.com/office/drawing/2014/main" val="1527047685"/>
                  </a:ext>
                </a:extLst>
              </a:tr>
            </a:tbl>
          </a:graphicData>
        </a:graphic>
      </p:graphicFrame>
    </p:spTree>
    <p:extLst>
      <p:ext uri="{BB962C8B-B14F-4D97-AF65-F5344CB8AC3E}">
        <p14:creationId xmlns:p14="http://schemas.microsoft.com/office/powerpoint/2010/main" val="66236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C130219-CA32-F9BE-7EA7-166A7CF826FC}"/>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More information …</a:t>
            </a:r>
          </a:p>
        </p:txBody>
      </p:sp>
      <p:graphicFrame>
        <p:nvGraphicFramePr>
          <p:cNvPr id="4" name="Content Placeholder 3">
            <a:extLst>
              <a:ext uri="{FF2B5EF4-FFF2-40B4-BE49-F238E27FC236}">
                <a16:creationId xmlns:a16="http://schemas.microsoft.com/office/drawing/2014/main" id="{4BAAC4E0-5D8E-3268-082A-27B920342682}"/>
              </a:ext>
            </a:extLst>
          </p:cNvPr>
          <p:cNvGraphicFramePr>
            <a:graphicFrameLocks noGrp="1"/>
          </p:cNvGraphicFramePr>
          <p:nvPr>
            <p:ph idx="1"/>
            <p:extLst>
              <p:ext uri="{D42A27DB-BD31-4B8C-83A1-F6EECF244321}">
                <p14:modId xmlns:p14="http://schemas.microsoft.com/office/powerpoint/2010/main" val="205324636"/>
              </p:ext>
            </p:extLst>
          </p:nvPr>
        </p:nvGraphicFramePr>
        <p:xfrm>
          <a:off x="723900" y="2676401"/>
          <a:ext cx="10744200" cy="3303765"/>
        </p:xfrm>
        <a:graphic>
          <a:graphicData uri="http://schemas.openxmlformats.org/drawingml/2006/table">
            <a:tbl>
              <a:tblPr>
                <a:noFill/>
                <a:tableStyleId>{5C22544A-7EE6-4342-B048-85BDC9FD1C3A}</a:tableStyleId>
              </a:tblPr>
              <a:tblGrid>
                <a:gridCol w="2990474">
                  <a:extLst>
                    <a:ext uri="{9D8B030D-6E8A-4147-A177-3AD203B41FA5}">
                      <a16:colId xmlns:a16="http://schemas.microsoft.com/office/drawing/2014/main" val="2693594585"/>
                    </a:ext>
                  </a:extLst>
                </a:gridCol>
                <a:gridCol w="7753726">
                  <a:extLst>
                    <a:ext uri="{9D8B030D-6E8A-4147-A177-3AD203B41FA5}">
                      <a16:colId xmlns:a16="http://schemas.microsoft.com/office/drawing/2014/main" val="2335264895"/>
                    </a:ext>
                  </a:extLst>
                </a:gridCol>
              </a:tblGrid>
              <a:tr h="660753">
                <a:tc>
                  <a:txBody>
                    <a:bodyPr/>
                    <a:lstStyle/>
                    <a:p>
                      <a:pPr>
                        <a:buNone/>
                      </a:pPr>
                      <a:r>
                        <a:rPr lang="en-US" sz="2200">
                          <a:solidFill>
                            <a:schemeClr val="tx1">
                              <a:lumMod val="75000"/>
                              <a:lumOff val="25000"/>
                            </a:schemeClr>
                          </a:solidFill>
                        </a:rPr>
                        <a:t>Container</a:t>
                      </a:r>
                    </a:p>
                  </a:txBody>
                  <a:tcPr marL="269695" marR="134847" marT="134847" marB="134847"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buNone/>
                      </a:pPr>
                      <a:r>
                        <a:rPr lang="en-US" sz="2200">
                          <a:solidFill>
                            <a:schemeClr val="tx1">
                              <a:lumMod val="75000"/>
                              <a:lumOff val="25000"/>
                            </a:schemeClr>
                          </a:solidFill>
                        </a:rPr>
                        <a:t>Arrangement</a:t>
                      </a:r>
                    </a:p>
                  </a:txBody>
                  <a:tcPr marL="269695" marR="134847" marT="134847" marB="134847"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3910245571"/>
                  </a:ext>
                </a:extLst>
              </a:tr>
              <a:tr h="660753">
                <a:tc>
                  <a:txBody>
                    <a:bodyPr/>
                    <a:lstStyle/>
                    <a:p>
                      <a:pPr>
                        <a:buNone/>
                      </a:pPr>
                      <a:r>
                        <a:rPr lang="en-US" sz="2200">
                          <a:solidFill>
                            <a:schemeClr val="tx1">
                              <a:lumMod val="75000"/>
                              <a:lumOff val="25000"/>
                            </a:schemeClr>
                          </a:solidFill>
                        </a:rPr>
                        <a:t>StackPane</a:t>
                      </a:r>
                    </a:p>
                  </a:txBody>
                  <a:tcPr marL="269695" marR="134847" marT="134847" marB="134847"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buNone/>
                      </a:pPr>
                      <a:r>
                        <a:rPr lang="en-US" sz="2200">
                          <a:solidFill>
                            <a:schemeClr val="tx1">
                              <a:lumMod val="75000"/>
                              <a:lumOff val="25000"/>
                            </a:schemeClr>
                          </a:solidFill>
                        </a:rPr>
                        <a:t>Children stacked in layers</a:t>
                      </a:r>
                    </a:p>
                  </a:txBody>
                  <a:tcPr marL="269695" marR="134847" marT="134847" marB="134847"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3282091236"/>
                  </a:ext>
                </a:extLst>
              </a:tr>
              <a:tr h="660753">
                <a:tc>
                  <a:txBody>
                    <a:bodyPr/>
                    <a:lstStyle/>
                    <a:p>
                      <a:pPr>
                        <a:buNone/>
                      </a:pPr>
                      <a:r>
                        <a:rPr lang="en-US" sz="2200">
                          <a:solidFill>
                            <a:schemeClr val="tx1">
                              <a:lumMod val="75000"/>
                              <a:lumOff val="25000"/>
                            </a:schemeClr>
                          </a:solidFill>
                        </a:rPr>
                        <a:t>VBox</a:t>
                      </a:r>
                    </a:p>
                  </a:txBody>
                  <a:tcPr marL="269695" marR="134847" marT="134847" marB="134847"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buNone/>
                      </a:pPr>
                      <a:r>
                        <a:rPr lang="en-US" sz="2200">
                          <a:solidFill>
                            <a:schemeClr val="tx1">
                              <a:lumMod val="75000"/>
                              <a:lumOff val="25000"/>
                            </a:schemeClr>
                          </a:solidFill>
                        </a:rPr>
                        <a:t>Children arranged vertically</a:t>
                      </a:r>
                    </a:p>
                  </a:txBody>
                  <a:tcPr marL="269695" marR="134847" marT="134847" marB="134847"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1549107915"/>
                  </a:ext>
                </a:extLst>
              </a:tr>
              <a:tr h="660753">
                <a:tc>
                  <a:txBody>
                    <a:bodyPr/>
                    <a:lstStyle/>
                    <a:p>
                      <a:pPr>
                        <a:buNone/>
                      </a:pPr>
                      <a:r>
                        <a:rPr lang="en-US" sz="2200">
                          <a:solidFill>
                            <a:schemeClr val="tx1">
                              <a:lumMod val="75000"/>
                              <a:lumOff val="25000"/>
                            </a:schemeClr>
                          </a:solidFill>
                        </a:rPr>
                        <a:t>HBox</a:t>
                      </a:r>
                    </a:p>
                  </a:txBody>
                  <a:tcPr marL="269695" marR="134847" marT="134847" marB="134847"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buNone/>
                      </a:pPr>
                      <a:r>
                        <a:rPr lang="en-US" sz="2200">
                          <a:solidFill>
                            <a:schemeClr val="tx1">
                              <a:lumMod val="75000"/>
                              <a:lumOff val="25000"/>
                            </a:schemeClr>
                          </a:solidFill>
                        </a:rPr>
                        <a:t>Children arranged horizontally</a:t>
                      </a:r>
                    </a:p>
                  </a:txBody>
                  <a:tcPr marL="269695" marR="134847" marT="134847" marB="134847"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3862381079"/>
                  </a:ext>
                </a:extLst>
              </a:tr>
              <a:tr h="660753">
                <a:tc>
                  <a:txBody>
                    <a:bodyPr/>
                    <a:lstStyle/>
                    <a:p>
                      <a:pPr>
                        <a:buNone/>
                      </a:pPr>
                      <a:r>
                        <a:rPr lang="en-US" sz="2200">
                          <a:solidFill>
                            <a:schemeClr val="tx1">
                              <a:lumMod val="75000"/>
                              <a:lumOff val="25000"/>
                            </a:schemeClr>
                          </a:solidFill>
                        </a:rPr>
                        <a:t>GridPane</a:t>
                      </a:r>
                    </a:p>
                  </a:txBody>
                  <a:tcPr marL="269695" marR="134847" marT="134847" marB="134847"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tc>
                  <a:txBody>
                    <a:bodyPr/>
                    <a:lstStyle/>
                    <a:p>
                      <a:pPr>
                        <a:buNone/>
                      </a:pPr>
                      <a:r>
                        <a:rPr lang="en-US" sz="2200">
                          <a:solidFill>
                            <a:schemeClr val="tx1">
                              <a:lumMod val="75000"/>
                              <a:lumOff val="25000"/>
                            </a:schemeClr>
                          </a:solidFill>
                        </a:rPr>
                        <a:t>Children arranged in rows and columns</a:t>
                      </a:r>
                    </a:p>
                  </a:txBody>
                  <a:tcPr marL="269695" marR="134847" marT="134847" marB="134847" anchor="ctr">
                    <a:lnL w="9525" cap="flat" cmpd="sng" algn="ctr">
                      <a:solidFill>
                        <a:srgbClr val="D8DEDC"/>
                      </a:solidFill>
                      <a:prstDash val="solid"/>
                    </a:lnL>
                    <a:lnR w="9525" cap="flat" cmpd="sng" algn="ctr">
                      <a:solidFill>
                        <a:srgbClr val="D8DEDC"/>
                      </a:solidFill>
                      <a:prstDash val="solid"/>
                    </a:lnR>
                    <a:lnT w="9525" cap="flat" cmpd="sng" algn="ctr">
                      <a:solidFill>
                        <a:srgbClr val="D8DEDC"/>
                      </a:solidFill>
                      <a:prstDash val="solid"/>
                    </a:lnT>
                    <a:lnB w="9525" cap="flat" cmpd="sng" algn="ctr">
                      <a:solidFill>
                        <a:srgbClr val="D8DEDC"/>
                      </a:solidFill>
                      <a:prstDash val="solid"/>
                    </a:lnB>
                    <a:noFill/>
                  </a:tcPr>
                </a:tc>
                <a:extLst>
                  <a:ext uri="{0D108BD9-81ED-4DB2-BD59-A6C34878D82A}">
                    <a16:rowId xmlns:a16="http://schemas.microsoft.com/office/drawing/2014/main" val="3368597682"/>
                  </a:ext>
                </a:extLst>
              </a:tr>
            </a:tbl>
          </a:graphicData>
        </a:graphic>
      </p:graphicFrame>
    </p:spTree>
    <p:extLst>
      <p:ext uri="{BB962C8B-B14F-4D97-AF65-F5344CB8AC3E}">
        <p14:creationId xmlns:p14="http://schemas.microsoft.com/office/powerpoint/2010/main" val="3054525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Orange Experience</Template>
  <TotalTime>904</TotalTime>
  <Words>1113</Words>
  <Application>Microsoft Macintosh PowerPoint</Application>
  <PresentationFormat>Widescreen</PresentationFormat>
  <Paragraphs>200</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Arial</vt:lpstr>
      <vt:lpstr>Calibri</vt:lpstr>
      <vt:lpstr>Courier New</vt:lpstr>
      <vt:lpstr>Office Theme</vt:lpstr>
      <vt:lpstr>GUIs, JavaFX, &amp;  Event Driven Programming</vt:lpstr>
      <vt:lpstr>Sources</vt:lpstr>
      <vt:lpstr>GUI: to arrange visual components and respond to user events. </vt:lpstr>
      <vt:lpstr>GUI: to arrange visual components and respond to user events. </vt:lpstr>
      <vt:lpstr>JavaFX</vt:lpstr>
      <vt:lpstr>MAVEN</vt:lpstr>
      <vt:lpstr>pom.xml</vt:lpstr>
      <vt:lpstr>Project Creation &amp; First App</vt:lpstr>
      <vt:lpstr>Getting to know the code …</vt:lpstr>
      <vt:lpstr>Getting to know the code …</vt:lpstr>
      <vt:lpstr>Getting to know the code …</vt:lpstr>
      <vt:lpstr>Getting to know the code</vt:lpstr>
      <vt:lpstr>Getting to know the code …</vt:lpstr>
      <vt:lpstr>The Application Lifecycle</vt:lpstr>
      <vt:lpstr>Overall Process</vt:lpstr>
      <vt:lpstr>To-Do 01</vt:lpstr>
      <vt:lpstr>To-Do 02 …</vt:lpstr>
      <vt:lpstr>To-Do 03 …</vt:lpstr>
      <vt:lpstr>To-Do 03 [hints]</vt:lpstr>
      <vt:lpstr>Practice …</vt:lpstr>
      <vt:lpstr>More next class …</vt:lpstr>
      <vt:lpstr>More information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Fahmida Hamid</dc:creator>
  <cp:lastModifiedBy>Fahmida Hamid</cp:lastModifiedBy>
  <cp:revision>21</cp:revision>
  <dcterms:created xsi:type="dcterms:W3CDTF">2026-10-13T13:35:57Z</dcterms:created>
  <dcterms:modified xsi:type="dcterms:W3CDTF">2026-10-14T04:49:55Z</dcterms:modified>
</cp:coreProperties>
</file>