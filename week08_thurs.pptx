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0F672F-C33A-36C8-B715-530CDD989C04}" name="Fahmida Hamid" initials="FH" userId="S::fhamid@callutheran.edu::575dc0a0-3c6d-400f-847b-a75a38d7fe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8"/>
  </p:normalViewPr>
  <p:slideViewPr>
    <p:cSldViewPr snapToGrid="0">
      <p:cViewPr varScale="1">
        <p:scale>
          <a:sx n="120" d="100"/>
          <a:sy n="120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3AC5BC-1076-4E38-A981-27A5DFDF4E8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58D057-8C01-4D93-B617-7C82488B61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returns a </a:t>
          </a:r>
          <a:r>
            <a:rPr lang="en-US" b="1"/>
            <a:t>Stream&lt;String&gt;</a:t>
          </a:r>
          <a:r>
            <a:rPr lang="en-US"/>
            <a:t> connected to this list as its source. </a:t>
          </a:r>
        </a:p>
      </dgm:t>
    </dgm:pt>
    <dgm:pt modelId="{B46FF1A6-80F9-4BCF-A9D0-7DC3D1F4E7E6}" type="parTrans" cxnId="{0F1D5CC6-D4D3-4CCE-9FE6-9EBCA12E42E0}">
      <dgm:prSet/>
      <dgm:spPr/>
      <dgm:t>
        <a:bodyPr/>
        <a:lstStyle/>
        <a:p>
          <a:endParaRPr lang="en-US"/>
        </a:p>
      </dgm:t>
    </dgm:pt>
    <dgm:pt modelId="{C9E18B10-35F5-4459-982E-0AD2AC221BFC}" type="sibTrans" cxnId="{0F1D5CC6-D4D3-4CCE-9FE6-9EBCA12E42E0}">
      <dgm:prSet/>
      <dgm:spPr/>
      <dgm:t>
        <a:bodyPr/>
        <a:lstStyle/>
        <a:p>
          <a:endParaRPr lang="en-US"/>
        </a:p>
      </dgm:t>
    </dgm:pt>
    <dgm:pt modelId="{739B20F4-2EDE-4C37-9B97-E336522403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is the collection-processing Stream API in </a:t>
          </a:r>
          <a:r>
            <a:rPr lang="en-US" b="1"/>
            <a:t>java.util.stream</a:t>
          </a:r>
          <a:r>
            <a:rPr lang="en-US"/>
            <a:t>, which is different from file input/output streams.</a:t>
          </a:r>
        </a:p>
      </dgm:t>
    </dgm:pt>
    <dgm:pt modelId="{F0BE22BF-7C0C-41A4-8973-44FD63FC3587}" type="parTrans" cxnId="{896606DF-619C-432A-AF83-8FB5A233D4BE}">
      <dgm:prSet/>
      <dgm:spPr/>
      <dgm:t>
        <a:bodyPr/>
        <a:lstStyle/>
        <a:p>
          <a:endParaRPr lang="en-US"/>
        </a:p>
      </dgm:t>
    </dgm:pt>
    <dgm:pt modelId="{CC4E98FB-C596-4EE1-B45B-8B17CCEE2894}" type="sibTrans" cxnId="{896606DF-619C-432A-AF83-8FB5A233D4BE}">
      <dgm:prSet/>
      <dgm:spPr/>
      <dgm:t>
        <a:bodyPr/>
        <a:lstStyle/>
        <a:p>
          <a:endParaRPr lang="en-US"/>
        </a:p>
      </dgm:t>
    </dgm:pt>
    <dgm:pt modelId="{9BC37362-5367-42E6-8B2D-7A688873E8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does not copy or replace the list.</a:t>
          </a:r>
        </a:p>
      </dgm:t>
    </dgm:pt>
    <dgm:pt modelId="{34CA0828-F429-4475-9E1F-9C6E04A1E3E3}" type="parTrans" cxnId="{9CABEF70-7C15-46E4-8361-ABAC72D42511}">
      <dgm:prSet/>
      <dgm:spPr/>
      <dgm:t>
        <a:bodyPr/>
        <a:lstStyle/>
        <a:p>
          <a:endParaRPr lang="en-US"/>
        </a:p>
      </dgm:t>
    </dgm:pt>
    <dgm:pt modelId="{711B0CF5-7953-4D3D-A7A2-D728149C4CED}" type="sibTrans" cxnId="{9CABEF70-7C15-46E4-8361-ABAC72D42511}">
      <dgm:prSet/>
      <dgm:spPr/>
      <dgm:t>
        <a:bodyPr/>
        <a:lstStyle/>
        <a:p>
          <a:endParaRPr lang="en-US"/>
        </a:p>
      </dgm:t>
    </dgm:pt>
    <dgm:pt modelId="{8C5DEC13-3FFF-4212-911B-255BDC3B1B11}" type="pres">
      <dgm:prSet presAssocID="{DD3AC5BC-1076-4E38-A981-27A5DFDF4E8F}" presName="root" presStyleCnt="0">
        <dgm:presLayoutVars>
          <dgm:dir/>
          <dgm:resizeHandles val="exact"/>
        </dgm:presLayoutVars>
      </dgm:prSet>
      <dgm:spPr/>
    </dgm:pt>
    <dgm:pt modelId="{DA970C24-E33E-44CA-A9E9-D4457DACBA11}" type="pres">
      <dgm:prSet presAssocID="{8458D057-8C01-4D93-B617-7C82488B6186}" presName="compNode" presStyleCnt="0"/>
      <dgm:spPr/>
    </dgm:pt>
    <dgm:pt modelId="{653E61B2-C05B-4EFA-9C5E-636AA071465E}" type="pres">
      <dgm:prSet presAssocID="{8458D057-8C01-4D93-B617-7C82488B6186}" presName="bgRect" presStyleLbl="bgShp" presStyleIdx="0" presStyleCnt="3"/>
      <dgm:spPr/>
    </dgm:pt>
    <dgm:pt modelId="{1644BE46-016D-45A3-A1D2-1290252E8AA5}" type="pres">
      <dgm:prSet presAssocID="{8458D057-8C01-4D93-B617-7C82488B618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18A22BDD-6682-41EF-AC71-7D5B4AFE07CD}" type="pres">
      <dgm:prSet presAssocID="{8458D057-8C01-4D93-B617-7C82488B6186}" presName="spaceRect" presStyleCnt="0"/>
      <dgm:spPr/>
    </dgm:pt>
    <dgm:pt modelId="{E703ACE8-550B-4C0D-8534-A0D192572407}" type="pres">
      <dgm:prSet presAssocID="{8458D057-8C01-4D93-B617-7C82488B6186}" presName="parTx" presStyleLbl="revTx" presStyleIdx="0" presStyleCnt="3">
        <dgm:presLayoutVars>
          <dgm:chMax val="0"/>
          <dgm:chPref val="0"/>
        </dgm:presLayoutVars>
      </dgm:prSet>
      <dgm:spPr/>
    </dgm:pt>
    <dgm:pt modelId="{3638688F-A831-4B72-98E5-62C489696D99}" type="pres">
      <dgm:prSet presAssocID="{C9E18B10-35F5-4459-982E-0AD2AC221BFC}" presName="sibTrans" presStyleCnt="0"/>
      <dgm:spPr/>
    </dgm:pt>
    <dgm:pt modelId="{3394FAFB-8959-46A1-BB57-C3FD641604CD}" type="pres">
      <dgm:prSet presAssocID="{739B20F4-2EDE-4C37-9B97-E3365224031D}" presName="compNode" presStyleCnt="0"/>
      <dgm:spPr/>
    </dgm:pt>
    <dgm:pt modelId="{2665F872-D103-45DD-89AA-836CB51BE236}" type="pres">
      <dgm:prSet presAssocID="{739B20F4-2EDE-4C37-9B97-E3365224031D}" presName="bgRect" presStyleLbl="bgShp" presStyleIdx="1" presStyleCnt="3"/>
      <dgm:spPr/>
    </dgm:pt>
    <dgm:pt modelId="{4CF2C0EE-C08F-44CB-AD1A-CBCF7CB12844}" type="pres">
      <dgm:prSet presAssocID="{739B20F4-2EDE-4C37-9B97-E3365224031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37F6750-E857-4209-AB1A-79AF2E36D4D4}" type="pres">
      <dgm:prSet presAssocID="{739B20F4-2EDE-4C37-9B97-E3365224031D}" presName="spaceRect" presStyleCnt="0"/>
      <dgm:spPr/>
    </dgm:pt>
    <dgm:pt modelId="{F2698C6A-5C59-430F-8C2A-4A50CC6BBFBD}" type="pres">
      <dgm:prSet presAssocID="{739B20F4-2EDE-4C37-9B97-E3365224031D}" presName="parTx" presStyleLbl="revTx" presStyleIdx="1" presStyleCnt="3">
        <dgm:presLayoutVars>
          <dgm:chMax val="0"/>
          <dgm:chPref val="0"/>
        </dgm:presLayoutVars>
      </dgm:prSet>
      <dgm:spPr/>
    </dgm:pt>
    <dgm:pt modelId="{4EB41D7E-239D-422D-8B73-B9B9F74FA66D}" type="pres">
      <dgm:prSet presAssocID="{CC4E98FB-C596-4EE1-B45B-8B17CCEE2894}" presName="sibTrans" presStyleCnt="0"/>
      <dgm:spPr/>
    </dgm:pt>
    <dgm:pt modelId="{57C89713-54B0-4752-AD6F-3588F8466FE4}" type="pres">
      <dgm:prSet presAssocID="{9BC37362-5367-42E6-8B2D-7A688873E833}" presName="compNode" presStyleCnt="0"/>
      <dgm:spPr/>
    </dgm:pt>
    <dgm:pt modelId="{A64BECCC-CBDE-4D84-A173-1A61A37EE935}" type="pres">
      <dgm:prSet presAssocID="{9BC37362-5367-42E6-8B2D-7A688873E833}" presName="bgRect" presStyleLbl="bgShp" presStyleIdx="2" presStyleCnt="3"/>
      <dgm:spPr/>
    </dgm:pt>
    <dgm:pt modelId="{9337295A-927E-4EB1-B28B-228753FAA8E4}" type="pres">
      <dgm:prSet presAssocID="{9BC37362-5367-42E6-8B2D-7A688873E83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CDB670A3-ABEF-4F01-90BC-2AB8C9D2B71D}" type="pres">
      <dgm:prSet presAssocID="{9BC37362-5367-42E6-8B2D-7A688873E833}" presName="spaceRect" presStyleCnt="0"/>
      <dgm:spPr/>
    </dgm:pt>
    <dgm:pt modelId="{1A1A6173-14F4-44F8-A5E2-45B3165910F5}" type="pres">
      <dgm:prSet presAssocID="{9BC37362-5367-42E6-8B2D-7A688873E83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A7C6518-27A4-4B18-B243-62775695A5BE}" type="presOf" srcId="{9BC37362-5367-42E6-8B2D-7A688873E833}" destId="{1A1A6173-14F4-44F8-A5E2-45B3165910F5}" srcOrd="0" destOrd="0" presId="urn:microsoft.com/office/officeart/2018/2/layout/IconVerticalSolidList"/>
    <dgm:cxn modelId="{0523241B-90CC-412F-9314-EA8F0F09607A}" type="presOf" srcId="{8458D057-8C01-4D93-B617-7C82488B6186}" destId="{E703ACE8-550B-4C0D-8534-A0D192572407}" srcOrd="0" destOrd="0" presId="urn:microsoft.com/office/officeart/2018/2/layout/IconVerticalSolidList"/>
    <dgm:cxn modelId="{3B541732-8947-4DD2-8F51-63C59A371C38}" type="presOf" srcId="{739B20F4-2EDE-4C37-9B97-E3365224031D}" destId="{F2698C6A-5C59-430F-8C2A-4A50CC6BBFBD}" srcOrd="0" destOrd="0" presId="urn:microsoft.com/office/officeart/2018/2/layout/IconVerticalSolidList"/>
    <dgm:cxn modelId="{9CABEF70-7C15-46E4-8361-ABAC72D42511}" srcId="{DD3AC5BC-1076-4E38-A981-27A5DFDF4E8F}" destId="{9BC37362-5367-42E6-8B2D-7A688873E833}" srcOrd="2" destOrd="0" parTransId="{34CA0828-F429-4475-9E1F-9C6E04A1E3E3}" sibTransId="{711B0CF5-7953-4D3D-A7A2-D728149C4CED}"/>
    <dgm:cxn modelId="{81555885-CB4F-4038-AD23-78895134B25E}" type="presOf" srcId="{DD3AC5BC-1076-4E38-A981-27A5DFDF4E8F}" destId="{8C5DEC13-3FFF-4212-911B-255BDC3B1B11}" srcOrd="0" destOrd="0" presId="urn:microsoft.com/office/officeart/2018/2/layout/IconVerticalSolidList"/>
    <dgm:cxn modelId="{0F1D5CC6-D4D3-4CCE-9FE6-9EBCA12E42E0}" srcId="{DD3AC5BC-1076-4E38-A981-27A5DFDF4E8F}" destId="{8458D057-8C01-4D93-B617-7C82488B6186}" srcOrd="0" destOrd="0" parTransId="{B46FF1A6-80F9-4BCF-A9D0-7DC3D1F4E7E6}" sibTransId="{C9E18B10-35F5-4459-982E-0AD2AC221BFC}"/>
    <dgm:cxn modelId="{896606DF-619C-432A-AF83-8FB5A233D4BE}" srcId="{DD3AC5BC-1076-4E38-A981-27A5DFDF4E8F}" destId="{739B20F4-2EDE-4C37-9B97-E3365224031D}" srcOrd="1" destOrd="0" parTransId="{F0BE22BF-7C0C-41A4-8973-44FD63FC3587}" sibTransId="{CC4E98FB-C596-4EE1-B45B-8B17CCEE2894}"/>
    <dgm:cxn modelId="{04EEECB1-EA8E-48EB-BB6D-4504F7C4BE0E}" type="presParOf" srcId="{8C5DEC13-3FFF-4212-911B-255BDC3B1B11}" destId="{DA970C24-E33E-44CA-A9E9-D4457DACBA11}" srcOrd="0" destOrd="0" presId="urn:microsoft.com/office/officeart/2018/2/layout/IconVerticalSolidList"/>
    <dgm:cxn modelId="{5B20FB89-DFBD-4708-A6D4-5FE16180C53F}" type="presParOf" srcId="{DA970C24-E33E-44CA-A9E9-D4457DACBA11}" destId="{653E61B2-C05B-4EFA-9C5E-636AA071465E}" srcOrd="0" destOrd="0" presId="urn:microsoft.com/office/officeart/2018/2/layout/IconVerticalSolidList"/>
    <dgm:cxn modelId="{E6259944-E840-417F-A2A9-869E129ED024}" type="presParOf" srcId="{DA970C24-E33E-44CA-A9E9-D4457DACBA11}" destId="{1644BE46-016D-45A3-A1D2-1290252E8AA5}" srcOrd="1" destOrd="0" presId="urn:microsoft.com/office/officeart/2018/2/layout/IconVerticalSolidList"/>
    <dgm:cxn modelId="{B63A63DF-9991-45C7-BAEB-62579411E5A4}" type="presParOf" srcId="{DA970C24-E33E-44CA-A9E9-D4457DACBA11}" destId="{18A22BDD-6682-41EF-AC71-7D5B4AFE07CD}" srcOrd="2" destOrd="0" presId="urn:microsoft.com/office/officeart/2018/2/layout/IconVerticalSolidList"/>
    <dgm:cxn modelId="{23EF927E-E0FB-4397-AE97-43BDD9B888BC}" type="presParOf" srcId="{DA970C24-E33E-44CA-A9E9-D4457DACBA11}" destId="{E703ACE8-550B-4C0D-8534-A0D192572407}" srcOrd="3" destOrd="0" presId="urn:microsoft.com/office/officeart/2018/2/layout/IconVerticalSolidList"/>
    <dgm:cxn modelId="{A8AA58D9-2DC1-4365-8414-AB1EB7BDBAB7}" type="presParOf" srcId="{8C5DEC13-3FFF-4212-911B-255BDC3B1B11}" destId="{3638688F-A831-4B72-98E5-62C489696D99}" srcOrd="1" destOrd="0" presId="urn:microsoft.com/office/officeart/2018/2/layout/IconVerticalSolidList"/>
    <dgm:cxn modelId="{8F61D952-A2EE-41AE-98C0-1B70B9A4D33E}" type="presParOf" srcId="{8C5DEC13-3FFF-4212-911B-255BDC3B1B11}" destId="{3394FAFB-8959-46A1-BB57-C3FD641604CD}" srcOrd="2" destOrd="0" presId="urn:microsoft.com/office/officeart/2018/2/layout/IconVerticalSolidList"/>
    <dgm:cxn modelId="{F42B5421-16D0-41B7-BF3E-96C67985DA24}" type="presParOf" srcId="{3394FAFB-8959-46A1-BB57-C3FD641604CD}" destId="{2665F872-D103-45DD-89AA-836CB51BE236}" srcOrd="0" destOrd="0" presId="urn:microsoft.com/office/officeart/2018/2/layout/IconVerticalSolidList"/>
    <dgm:cxn modelId="{5FC255D7-0872-4332-99E7-E3DF10669359}" type="presParOf" srcId="{3394FAFB-8959-46A1-BB57-C3FD641604CD}" destId="{4CF2C0EE-C08F-44CB-AD1A-CBCF7CB12844}" srcOrd="1" destOrd="0" presId="urn:microsoft.com/office/officeart/2018/2/layout/IconVerticalSolidList"/>
    <dgm:cxn modelId="{CE338A93-6C64-468F-B8E5-F9129864545E}" type="presParOf" srcId="{3394FAFB-8959-46A1-BB57-C3FD641604CD}" destId="{B37F6750-E857-4209-AB1A-79AF2E36D4D4}" srcOrd="2" destOrd="0" presId="urn:microsoft.com/office/officeart/2018/2/layout/IconVerticalSolidList"/>
    <dgm:cxn modelId="{1A144DEE-27E9-4F45-9022-518AA869748D}" type="presParOf" srcId="{3394FAFB-8959-46A1-BB57-C3FD641604CD}" destId="{F2698C6A-5C59-430F-8C2A-4A50CC6BBFBD}" srcOrd="3" destOrd="0" presId="urn:microsoft.com/office/officeart/2018/2/layout/IconVerticalSolidList"/>
    <dgm:cxn modelId="{A4E0DA6C-0B96-4843-BF52-C505A8CDEC77}" type="presParOf" srcId="{8C5DEC13-3FFF-4212-911B-255BDC3B1B11}" destId="{4EB41D7E-239D-422D-8B73-B9B9F74FA66D}" srcOrd="3" destOrd="0" presId="urn:microsoft.com/office/officeart/2018/2/layout/IconVerticalSolidList"/>
    <dgm:cxn modelId="{5040AE95-644F-4590-AAE3-0559FF51ECCA}" type="presParOf" srcId="{8C5DEC13-3FFF-4212-911B-255BDC3B1B11}" destId="{57C89713-54B0-4752-AD6F-3588F8466FE4}" srcOrd="4" destOrd="0" presId="urn:microsoft.com/office/officeart/2018/2/layout/IconVerticalSolidList"/>
    <dgm:cxn modelId="{8E0ACA45-D358-4568-9640-E31B4E16A3CB}" type="presParOf" srcId="{57C89713-54B0-4752-AD6F-3588F8466FE4}" destId="{A64BECCC-CBDE-4D84-A173-1A61A37EE935}" srcOrd="0" destOrd="0" presId="urn:microsoft.com/office/officeart/2018/2/layout/IconVerticalSolidList"/>
    <dgm:cxn modelId="{3B2E0050-8155-4334-A6B2-FD20D4462D16}" type="presParOf" srcId="{57C89713-54B0-4752-AD6F-3588F8466FE4}" destId="{9337295A-927E-4EB1-B28B-228753FAA8E4}" srcOrd="1" destOrd="0" presId="urn:microsoft.com/office/officeart/2018/2/layout/IconVerticalSolidList"/>
    <dgm:cxn modelId="{A7A0DC8B-A532-4408-BB1F-892A4DBEDC6C}" type="presParOf" srcId="{57C89713-54B0-4752-AD6F-3588F8466FE4}" destId="{CDB670A3-ABEF-4F01-90BC-2AB8C9D2B71D}" srcOrd="2" destOrd="0" presId="urn:microsoft.com/office/officeart/2018/2/layout/IconVerticalSolidList"/>
    <dgm:cxn modelId="{038E20F7-65C8-40A4-9598-964DC6695015}" type="presParOf" srcId="{57C89713-54B0-4752-AD6F-3588F8466FE4}" destId="{1A1A6173-14F4-44F8-A5E2-45B3165910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E61B2-C05B-4EFA-9C5E-636AA071465E}">
      <dsp:nvSpPr>
        <dsp:cNvPr id="0" name=""/>
        <dsp:cNvSpPr/>
      </dsp:nvSpPr>
      <dsp:spPr>
        <a:xfrm>
          <a:off x="0" y="281"/>
          <a:ext cx="9345363" cy="6593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44BE46-016D-45A3-A1D2-1290252E8AA5}">
      <dsp:nvSpPr>
        <dsp:cNvPr id="0" name=""/>
        <dsp:cNvSpPr/>
      </dsp:nvSpPr>
      <dsp:spPr>
        <a:xfrm>
          <a:off x="199456" y="148637"/>
          <a:ext cx="362648" cy="3626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3ACE8-550B-4C0D-8534-A0D192572407}">
      <dsp:nvSpPr>
        <dsp:cNvPr id="0" name=""/>
        <dsp:cNvSpPr/>
      </dsp:nvSpPr>
      <dsp:spPr>
        <a:xfrm>
          <a:off x="761560" y="281"/>
          <a:ext cx="8583802" cy="659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82" tIns="69782" rIns="69782" bIns="6978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returns a </a:t>
          </a:r>
          <a:r>
            <a:rPr lang="en-US" sz="1600" b="1" kern="1200"/>
            <a:t>Stream&lt;String&gt;</a:t>
          </a:r>
          <a:r>
            <a:rPr lang="en-US" sz="1600" kern="1200"/>
            <a:t> connected to this list as its source. </a:t>
          </a:r>
        </a:p>
      </dsp:txBody>
      <dsp:txXfrm>
        <a:off x="761560" y="281"/>
        <a:ext cx="8583802" cy="659360"/>
      </dsp:txXfrm>
    </dsp:sp>
    <dsp:sp modelId="{2665F872-D103-45DD-89AA-836CB51BE236}">
      <dsp:nvSpPr>
        <dsp:cNvPr id="0" name=""/>
        <dsp:cNvSpPr/>
      </dsp:nvSpPr>
      <dsp:spPr>
        <a:xfrm>
          <a:off x="0" y="824481"/>
          <a:ext cx="9345363" cy="6593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2C0EE-C08F-44CB-AD1A-CBCF7CB12844}">
      <dsp:nvSpPr>
        <dsp:cNvPr id="0" name=""/>
        <dsp:cNvSpPr/>
      </dsp:nvSpPr>
      <dsp:spPr>
        <a:xfrm>
          <a:off x="199456" y="972837"/>
          <a:ext cx="362648" cy="3626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98C6A-5C59-430F-8C2A-4A50CC6BBFBD}">
      <dsp:nvSpPr>
        <dsp:cNvPr id="0" name=""/>
        <dsp:cNvSpPr/>
      </dsp:nvSpPr>
      <dsp:spPr>
        <a:xfrm>
          <a:off x="761560" y="824481"/>
          <a:ext cx="8583802" cy="659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82" tIns="69782" rIns="69782" bIns="6978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is the collection-processing Stream API in </a:t>
          </a:r>
          <a:r>
            <a:rPr lang="en-US" sz="1600" b="1" kern="1200"/>
            <a:t>java.util.stream</a:t>
          </a:r>
          <a:r>
            <a:rPr lang="en-US" sz="1600" kern="1200"/>
            <a:t>, which is different from file input/output streams.</a:t>
          </a:r>
        </a:p>
      </dsp:txBody>
      <dsp:txXfrm>
        <a:off x="761560" y="824481"/>
        <a:ext cx="8583802" cy="659360"/>
      </dsp:txXfrm>
    </dsp:sp>
    <dsp:sp modelId="{A64BECCC-CBDE-4D84-A173-1A61A37EE935}">
      <dsp:nvSpPr>
        <dsp:cNvPr id="0" name=""/>
        <dsp:cNvSpPr/>
      </dsp:nvSpPr>
      <dsp:spPr>
        <a:xfrm>
          <a:off x="0" y="1648682"/>
          <a:ext cx="9345363" cy="6593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37295A-927E-4EB1-B28B-228753FAA8E4}">
      <dsp:nvSpPr>
        <dsp:cNvPr id="0" name=""/>
        <dsp:cNvSpPr/>
      </dsp:nvSpPr>
      <dsp:spPr>
        <a:xfrm>
          <a:off x="199456" y="1797038"/>
          <a:ext cx="362648" cy="3626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A6173-14F4-44F8-A5E2-45B3165910F5}">
      <dsp:nvSpPr>
        <dsp:cNvPr id="0" name=""/>
        <dsp:cNvSpPr/>
      </dsp:nvSpPr>
      <dsp:spPr>
        <a:xfrm>
          <a:off x="761560" y="1648682"/>
          <a:ext cx="8583802" cy="659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82" tIns="69782" rIns="69782" bIns="6978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does not copy or replace the list.</a:t>
          </a:r>
        </a:p>
      </dsp:txBody>
      <dsp:txXfrm>
        <a:off x="761560" y="1648682"/>
        <a:ext cx="8583802" cy="659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06A3-C69F-1B99-B0E7-FE17F55E5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547A3-D968-A30D-6B7E-4BB8FFD0D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5D570-912C-AE95-CE2A-4A1A644E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043EB-F098-07E8-3267-AF7F5963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1ED9-9BD8-D3B9-FECD-FC177973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2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7461-BA92-5D9B-007E-4BBD950A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CAC86-6CFE-D464-4FDB-0CBF34478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1D98A-F874-ADF8-D614-A85539C74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2362C-42F9-4253-E0B8-3EA093B8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28FE-84A4-3A47-C46D-AD5EA8BA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6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534A-8459-FBA2-CE87-249ADA2C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DA5FC-9B4C-E52A-5146-A9540899F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1992A-B736-87A7-75C6-92AD15496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E5528-A144-F350-6B3C-815C4AB1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C83C5-2D9A-C9E5-A61D-A77A0CA1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0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D65CF-FF8A-94E2-E1BA-42C6BE07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73EFD-564F-43CF-C37B-3056DD7F8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C90F2-3141-7567-FF11-3CEB2DD06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B48E9-C06B-54C5-34B0-0741D8D4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07BFB-C507-FFDD-BBBA-764D783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CD730-083B-7432-BCF8-530D87A9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6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CD52-D297-DAD9-FDA0-26B67CAF3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9D6DB-304B-5985-2D00-65BA97FAD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638B7-92B6-5522-D176-61E0CFF79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04DFE-E919-AF84-3CDB-17537F398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18E3B5-BADB-7FC0-E895-44F533429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CC50C-BED8-C163-9057-FE0A69E3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94276-09AB-C98E-6B67-5BD12322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0004B-2776-95F3-D38C-208A8002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10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C112-64EC-96E7-2106-04302AB4E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A4D519-E6A3-03CB-6CDF-3945EB16F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C3993-2042-2BA2-63C0-F3205CB0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14046-4B29-5976-859D-ECCBDE5D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1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11737-E30D-270D-FC2D-7C25EA3D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D7A7E-89B0-3F91-5632-814B0AEF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F7C06-EDDB-B0F8-CEF9-3A57E459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5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CFEA9-B87B-858F-949B-933A526A0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ACAFF-AA63-9BD8-2811-9BC502543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9C3A8-E9AB-137B-E28F-8CC0C2A18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90E40-A8C5-5E74-CCA5-8E8541B2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4D05A-1EE4-8E33-CD82-11B2EAD4D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FC0C7-027B-D017-1518-596864B7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5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20176-7039-767C-A7CA-E8295164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0FC45-DFD2-B917-B6BB-323C687F54D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29416-B75E-2304-32B9-5ED795FB6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93CEC-7ACB-9D26-7230-375A90D22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02054-E8AF-F017-D1B2-0931F99C4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780D7-5F03-6BCD-A976-F3E0D1C2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38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8CC3B-CEDF-9B7C-4ACC-1532D721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5D2E0-81B1-51A9-A6BA-387815D93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97453-A61E-8275-E982-387E8C3C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E1C70-A243-9086-5A47-C4B8F9B4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2574D-D7CD-D9C2-855B-A2ACEEE3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9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DB0370-DFFA-BF48-183E-BF7BEA104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25DE7-E604-DDBA-89B6-4F67C4E69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D5EE1-05FF-CE5C-85C6-8083055A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560AC-F57E-D651-0028-42998EB5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F9801-DABC-F600-AD4A-D1458B9A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6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C4557-0EDE-85E1-8F53-A6017538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F7C22-ACE2-BA24-B7A8-0295E8193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72AF3-A548-011F-7A3F-A4D138BED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47F64-7B56-6F49-88F9-0A6E2DF507CB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6F919-FB60-CDF8-C1A9-3DE53576CE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7A614-EE94-3E42-6190-ED7A04F87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16AAE-EE23-9745-95AF-417B89E86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9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B2BD-709E-B42C-7A2A-01BE4566F5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8CB50-CA19-499F-ADC8-278D8C39F4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F. Hamid</a:t>
            </a:r>
          </a:p>
        </p:txBody>
      </p:sp>
    </p:spTree>
    <p:extLst>
      <p:ext uri="{BB962C8B-B14F-4D97-AF65-F5344CB8AC3E}">
        <p14:creationId xmlns:p14="http://schemas.microsoft.com/office/powerpoint/2010/main" val="3609044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1774-457C-9EB1-3C81-E02EE7FA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6D2E-DB4D-5A19-B2B1-69EFDEB93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stream is a sequence of elements that we can process through a series of operations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collection, such as a list, stores data. </a:t>
            </a:r>
          </a:p>
          <a:p>
            <a:r>
              <a:rPr lang="en-US" dirty="0"/>
              <a:t>A stream provides a way to process that data.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885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18B5-D8F3-0A2B-B86D-82C61485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57FC9-A624-90A0-2ED6-BFEBF42BDCC4}"/>
              </a:ext>
            </a:extLst>
          </p:cNvPr>
          <p:cNvSpPr txBox="1"/>
          <p:nvPr/>
        </p:nvSpPr>
        <p:spPr>
          <a:xfrm>
            <a:off x="986169" y="1690688"/>
            <a:ext cx="6097772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+mn-lt"/>
              </a:rPr>
              <a:t>List&lt;String&gt; names 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</a:t>
            </a:r>
            <a:r>
              <a:rPr lang="en-US" dirty="0" err="1">
                <a:latin typeface="+mn-lt"/>
              </a:rPr>
              <a:t>List.of</a:t>
            </a:r>
            <a:r>
              <a:rPr lang="en-US" dirty="0">
                <a:latin typeface="+mn-lt"/>
              </a:rPr>
              <a:t>("Amina", "Ben", "Alice", "Dana", "Carlos");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5F05B3-3011-2D31-8CEB-0407C78A17F7}"/>
              </a:ext>
            </a:extLst>
          </p:cNvPr>
          <p:cNvSpPr txBox="1"/>
          <p:nvPr/>
        </p:nvSpPr>
        <p:spPr>
          <a:xfrm>
            <a:off x="986169" y="2891889"/>
            <a:ext cx="609777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names.stream</a:t>
            </a:r>
            <a:r>
              <a:rPr lang="en-US" dirty="0"/>
              <a:t>()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4FD9ABBC-BD88-5A0E-E28E-41C1E5F58300}"/>
              </a:ext>
            </a:extLst>
          </p:cNvPr>
          <p:cNvGraphicFramePr/>
          <p:nvPr/>
        </p:nvGraphicFramePr>
        <p:xfrm>
          <a:off x="986169" y="3768914"/>
          <a:ext cx="9345363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726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6F09-E383-C748-3CAD-2DCCD980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and when use streams?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F1F78-9A47-1F2F-7120-A2BA280DF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Streams are useful for requests such as:</a:t>
            </a:r>
          </a:p>
          <a:p>
            <a:pPr lvl="1"/>
            <a:r>
              <a:rPr lang="en-US" sz="1600" dirty="0"/>
              <a:t>Find names that start with "A".</a:t>
            </a:r>
          </a:p>
          <a:p>
            <a:pPr lvl="1"/>
            <a:r>
              <a:rPr lang="en-US" sz="1600" dirty="0"/>
              <a:t>Convert all names to uppercase.</a:t>
            </a:r>
          </a:p>
          <a:p>
            <a:pPr lvl="1"/>
            <a:r>
              <a:rPr lang="en-US" sz="1600" dirty="0"/>
              <a:t>Count names longer than four characters.</a:t>
            </a:r>
          </a:p>
          <a:p>
            <a:pPr lvl="1"/>
            <a:r>
              <a:rPr lang="en-US" sz="1600" dirty="0"/>
              <a:t>Select matching names and sort them.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FD4D6-AAC3-363A-D6C5-7A8C5C2C7F7F}"/>
              </a:ext>
            </a:extLst>
          </p:cNvPr>
          <p:cNvSpPr txBox="1"/>
          <p:nvPr/>
        </p:nvSpPr>
        <p:spPr>
          <a:xfrm>
            <a:off x="6096001" y="2136338"/>
            <a:ext cx="4791740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List</a:t>
            </a:r>
            <a:r>
              <a:rPr lang="en-US" dirty="0"/>
              <a:t>&lt;</a:t>
            </a:r>
            <a:r>
              <a:rPr lang="en-US" b="1" dirty="0"/>
              <a:t>String</a:t>
            </a:r>
            <a:r>
              <a:rPr lang="en-US" dirty="0"/>
              <a:t>&gt; </a:t>
            </a:r>
            <a:r>
              <a:rPr lang="en-US" dirty="0" err="1"/>
              <a:t>onlyA</a:t>
            </a:r>
            <a:r>
              <a:rPr lang="en-US" dirty="0"/>
              <a:t> = </a:t>
            </a:r>
            <a:r>
              <a:rPr lang="en-US" dirty="0" err="1"/>
              <a:t>names.</a:t>
            </a:r>
            <a:r>
              <a:rPr lang="en-US" b="1" dirty="0" err="1"/>
              <a:t>stream</a:t>
            </a:r>
            <a:r>
              <a:rPr lang="en-US" dirty="0"/>
              <a:t>()</a:t>
            </a:r>
          </a:p>
          <a:p>
            <a:r>
              <a:rPr lang="en-US" dirty="0"/>
              <a:t>.</a:t>
            </a:r>
            <a:r>
              <a:rPr lang="en-US" b="1" dirty="0"/>
              <a:t>filter</a:t>
            </a:r>
            <a:r>
              <a:rPr lang="en-US" dirty="0"/>
              <a:t>(name -&gt; </a:t>
            </a:r>
            <a:r>
              <a:rPr lang="en-US" dirty="0" err="1"/>
              <a:t>name.</a:t>
            </a:r>
            <a:r>
              <a:rPr lang="en-US" b="1" dirty="0" err="1"/>
              <a:t>startsWith</a:t>
            </a:r>
            <a:r>
              <a:rPr lang="en-US" dirty="0"/>
              <a:t>("A"))</a:t>
            </a:r>
          </a:p>
          <a:p>
            <a:r>
              <a:rPr lang="en-US" dirty="0"/>
              <a:t>.</a:t>
            </a:r>
            <a:r>
              <a:rPr lang="en-US" b="1" dirty="0"/>
              <a:t>map</a:t>
            </a:r>
            <a:r>
              <a:rPr lang="en-US" dirty="0"/>
              <a:t>(name -&gt; </a:t>
            </a:r>
            <a:r>
              <a:rPr lang="en-US" dirty="0" err="1"/>
              <a:t>name.</a:t>
            </a:r>
            <a:r>
              <a:rPr lang="en-US" b="1" dirty="0" err="1"/>
              <a:t>toUpperCase</a:t>
            </a:r>
            <a:r>
              <a:rPr lang="en-US" dirty="0"/>
              <a:t>())</a:t>
            </a:r>
          </a:p>
          <a:p>
            <a:r>
              <a:rPr lang="en-US" dirty="0"/>
              <a:t>.</a:t>
            </a:r>
            <a:r>
              <a:rPr lang="en-US" b="1" dirty="0" err="1"/>
              <a:t>toList</a:t>
            </a:r>
            <a:r>
              <a:rPr lang="en-US" dirty="0"/>
              <a:t>();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 err="1"/>
              <a:t>System</a:t>
            </a:r>
            <a:r>
              <a:rPr lang="en-US" dirty="0" err="1"/>
              <a:t>.out.</a:t>
            </a:r>
            <a:r>
              <a:rPr lang="en-US" b="1" dirty="0" err="1"/>
              <a:t>println</a:t>
            </a:r>
            <a:r>
              <a:rPr lang="en-US" dirty="0"/>
              <a:t>(</a:t>
            </a:r>
            <a:r>
              <a:rPr lang="en-US" dirty="0" err="1"/>
              <a:t>onlyA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155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CFBFA90-2749-4D20-F5F0-74337BEC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a Stream pipeline organized?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361F28D-4678-75DD-D854-440C62CCB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2114091"/>
              </p:ext>
            </p:extLst>
          </p:nvPr>
        </p:nvGraphicFramePr>
        <p:xfrm>
          <a:off x="838200" y="1825626"/>
          <a:ext cx="10609613" cy="45689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75049">
                  <a:extLst>
                    <a:ext uri="{9D8B030D-6E8A-4147-A177-3AD203B41FA5}">
                      <a16:colId xmlns:a16="http://schemas.microsoft.com/office/drawing/2014/main" val="1553747071"/>
                    </a:ext>
                  </a:extLst>
                </a:gridCol>
                <a:gridCol w="6534564">
                  <a:extLst>
                    <a:ext uri="{9D8B030D-6E8A-4147-A177-3AD203B41FA5}">
                      <a16:colId xmlns:a16="http://schemas.microsoft.com/office/drawing/2014/main" val="3385810025"/>
                    </a:ext>
                  </a:extLst>
                </a:gridCol>
              </a:tblGrid>
              <a:tr h="579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Part</a:t>
                      </a:r>
                    </a:p>
                  </a:txBody>
                  <a:tcPr marL="148688" marR="148688" marT="74346" marB="743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Role</a:t>
                      </a:r>
                    </a:p>
                  </a:txBody>
                  <a:tcPr marL="148688" marR="148688" marT="74346" marB="74346" anchor="ctr"/>
                </a:tc>
                <a:extLst>
                  <a:ext uri="{0D108BD9-81ED-4DB2-BD59-A6C34878D82A}">
                    <a16:rowId xmlns:a16="http://schemas.microsoft.com/office/drawing/2014/main" val="3844673796"/>
                  </a:ext>
                </a:extLst>
              </a:tr>
              <a:tr h="956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names.stream()</a:t>
                      </a:r>
                    </a:p>
                  </a:txBody>
                  <a:tcPr marL="148688" marR="148688" marT="74346" marB="743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Creates the stream from a source</a:t>
                      </a:r>
                    </a:p>
                  </a:txBody>
                  <a:tcPr marL="148688" marR="148688" marT="74346" marB="74346" anchor="ctr"/>
                </a:tc>
                <a:extLst>
                  <a:ext uri="{0D108BD9-81ED-4DB2-BD59-A6C34878D82A}">
                    <a16:rowId xmlns:a16="http://schemas.microsoft.com/office/drawing/2014/main" val="1719163751"/>
                  </a:ext>
                </a:extLst>
              </a:tr>
              <a:tr h="579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filter(...)</a:t>
                      </a:r>
                    </a:p>
                  </a:txBody>
                  <a:tcPr marL="148688" marR="148688" marT="74346" marB="743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Keeps matching elements</a:t>
                      </a:r>
                    </a:p>
                  </a:txBody>
                  <a:tcPr marL="148688" marR="148688" marT="74346" marB="74346" anchor="ctr"/>
                </a:tc>
                <a:extLst>
                  <a:ext uri="{0D108BD9-81ED-4DB2-BD59-A6C34878D82A}">
                    <a16:rowId xmlns:a16="http://schemas.microsoft.com/office/drawing/2014/main" val="1134932036"/>
                  </a:ext>
                </a:extLst>
              </a:tr>
              <a:tr h="956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map(...)</a:t>
                      </a:r>
                    </a:p>
                  </a:txBody>
                  <a:tcPr marL="148688" marR="148688" marT="74346" marB="743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Transforms each remaining element</a:t>
                      </a:r>
                    </a:p>
                  </a:txBody>
                  <a:tcPr marL="148688" marR="148688" marT="74346" marB="74346" anchor="ctr"/>
                </a:tc>
                <a:extLst>
                  <a:ext uri="{0D108BD9-81ED-4DB2-BD59-A6C34878D82A}">
                    <a16:rowId xmlns:a16="http://schemas.microsoft.com/office/drawing/2014/main" val="2985657816"/>
                  </a:ext>
                </a:extLst>
              </a:tr>
              <a:tr h="956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toList()</a:t>
                      </a:r>
                    </a:p>
                  </a:txBody>
                  <a:tcPr marL="148688" marR="148688" marT="74346" marB="743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Triggers processing and collects the results</a:t>
                      </a:r>
                    </a:p>
                  </a:txBody>
                  <a:tcPr marL="148688" marR="148688" marT="74346" marB="74346" anchor="ctr"/>
                </a:tc>
                <a:extLst>
                  <a:ext uri="{0D108BD9-81ED-4DB2-BD59-A6C34878D82A}">
                    <a16:rowId xmlns:a16="http://schemas.microsoft.com/office/drawing/2014/main" val="2991675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112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3D1E2-1125-10C8-325B-CEA7BE648C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8465" y="359343"/>
            <a:ext cx="10515600" cy="1325563"/>
          </a:xfrm>
        </p:spPr>
        <p:txBody>
          <a:bodyPr/>
          <a:lstStyle/>
          <a:p>
            <a:r>
              <a:rPr lang="en-US" dirty="0"/>
              <a:t>Select names using filter()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9222B-3CC0-1247-A349-C3EE4A7664D1}"/>
              </a:ext>
            </a:extLst>
          </p:cNvPr>
          <p:cNvSpPr txBox="1"/>
          <p:nvPr/>
        </p:nvSpPr>
        <p:spPr>
          <a:xfrm>
            <a:off x="779215" y="1997838"/>
            <a:ext cx="4728450" cy="2925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List&lt;String&gt; selected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/>
              <a:t>for (String name : names) {</a:t>
            </a:r>
          </a:p>
          <a:p>
            <a:r>
              <a:rPr lang="en-US" dirty="0"/>
              <a:t>    if (</a:t>
            </a:r>
            <a:r>
              <a:rPr lang="en-US" dirty="0" err="1"/>
              <a:t>name.startsWith</a:t>
            </a:r>
            <a:r>
              <a:rPr lang="en-US" dirty="0"/>
              <a:t>("A")) {</a:t>
            </a:r>
          </a:p>
          <a:p>
            <a:r>
              <a:rPr lang="en-US" dirty="0"/>
              <a:t>        </a:t>
            </a:r>
            <a:r>
              <a:rPr lang="en-US" dirty="0" err="1"/>
              <a:t>selected.add</a:t>
            </a:r>
            <a:r>
              <a:rPr lang="en-US" dirty="0"/>
              <a:t>(name);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(selected);</a:t>
            </a:r>
          </a:p>
          <a:p>
            <a:r>
              <a:rPr lang="en-US" dirty="0"/>
              <a:t>// [Amina, Alice]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24500-F27B-C8E4-8EF1-B70FC7A3C1B2}"/>
              </a:ext>
            </a:extLst>
          </p:cNvPr>
          <p:cNvSpPr txBox="1"/>
          <p:nvPr/>
        </p:nvSpPr>
        <p:spPr>
          <a:xfrm>
            <a:off x="5858540" y="1997838"/>
            <a:ext cx="5465134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List&lt;String&gt; selected = </a:t>
            </a:r>
            <a:r>
              <a:rPr lang="en-US" dirty="0" err="1"/>
              <a:t>names.stream</a:t>
            </a:r>
            <a:r>
              <a:rPr lang="en-US" dirty="0"/>
              <a:t>()</a:t>
            </a:r>
          </a:p>
          <a:p>
            <a:r>
              <a:rPr lang="en-US" dirty="0"/>
              <a:t>    .filter(name -&gt; </a:t>
            </a:r>
            <a:r>
              <a:rPr lang="en-US" dirty="0" err="1"/>
              <a:t>name.startsWith</a:t>
            </a:r>
            <a:r>
              <a:rPr lang="en-US" dirty="0"/>
              <a:t>("A"))</a:t>
            </a:r>
          </a:p>
          <a:p>
            <a:r>
              <a:rPr lang="en-US" dirty="0"/>
              <a:t>    .</a:t>
            </a:r>
            <a:r>
              <a:rPr lang="en-US" dirty="0" err="1"/>
              <a:t>toList</a:t>
            </a:r>
            <a:r>
              <a:rPr lang="en-US" dirty="0"/>
              <a:t>();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(selected);</a:t>
            </a:r>
          </a:p>
          <a:p>
            <a:r>
              <a:rPr lang="en-US" dirty="0"/>
              <a:t>// [Amina, Alice]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87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516E-7535-2411-7FBB-38DB5A53C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8F1C-71DF-03CD-52B3-7EE0A9B1FB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8465" y="359343"/>
            <a:ext cx="10515600" cy="1325563"/>
          </a:xfrm>
        </p:spPr>
        <p:txBody>
          <a:bodyPr/>
          <a:lstStyle/>
          <a:p>
            <a:r>
              <a:rPr lang="en-US" dirty="0"/>
              <a:t>Transform names using map()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E7CF23-F270-AB88-CAEA-1E28B2068185}"/>
              </a:ext>
            </a:extLst>
          </p:cNvPr>
          <p:cNvSpPr txBox="1"/>
          <p:nvPr/>
        </p:nvSpPr>
        <p:spPr>
          <a:xfrm>
            <a:off x="627321" y="1913860"/>
            <a:ext cx="4880344" cy="3416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List&lt;String&gt; </a:t>
            </a:r>
            <a:r>
              <a:rPr lang="en-US" dirty="0" err="1"/>
              <a:t>uppercaseNames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/>
              <a:t>for (String name : names) {    </a:t>
            </a:r>
            <a:r>
              <a:rPr lang="en-US" dirty="0" err="1"/>
              <a:t>uppercaseNames.add</a:t>
            </a:r>
            <a:r>
              <a:rPr lang="en-US" dirty="0"/>
              <a:t>(</a:t>
            </a:r>
            <a:r>
              <a:rPr lang="en-US" dirty="0" err="1"/>
              <a:t>name.toUpperCase</a:t>
            </a:r>
            <a:r>
              <a:rPr lang="en-US" dirty="0"/>
              <a:t>());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uppercaseNames</a:t>
            </a:r>
            <a:r>
              <a:rPr lang="en-US" dirty="0"/>
              <a:t>);</a:t>
            </a:r>
          </a:p>
          <a:p>
            <a:r>
              <a:rPr lang="en-US" dirty="0"/>
              <a:t>// [AMINA, BEN, ALICE, DANA, CARLOS]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25BB5-667C-AE7E-B91A-C9355C31A8D2}"/>
              </a:ext>
            </a:extLst>
          </p:cNvPr>
          <p:cNvSpPr txBox="1"/>
          <p:nvPr/>
        </p:nvSpPr>
        <p:spPr>
          <a:xfrm>
            <a:off x="5858540" y="1997838"/>
            <a:ext cx="5465134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List&lt;String&gt; </a:t>
            </a:r>
            <a:r>
              <a:rPr lang="en-US" dirty="0" err="1"/>
              <a:t>uppercaseNames</a:t>
            </a:r>
            <a:r>
              <a:rPr lang="en-US" dirty="0"/>
              <a:t> = </a:t>
            </a:r>
            <a:r>
              <a:rPr lang="en-US" dirty="0" err="1"/>
              <a:t>names.stream</a:t>
            </a:r>
            <a:r>
              <a:rPr lang="en-US" dirty="0"/>
              <a:t>()</a:t>
            </a:r>
          </a:p>
          <a:p>
            <a:r>
              <a:rPr lang="en-US" dirty="0"/>
              <a:t>    .map(name -&gt; </a:t>
            </a:r>
            <a:r>
              <a:rPr lang="en-US" dirty="0" err="1"/>
              <a:t>name.toUpperCase</a:t>
            </a:r>
            <a:r>
              <a:rPr lang="en-US" dirty="0"/>
              <a:t>())</a:t>
            </a:r>
          </a:p>
          <a:p>
            <a:r>
              <a:rPr lang="en-US" dirty="0"/>
              <a:t>    .</a:t>
            </a:r>
            <a:r>
              <a:rPr lang="en-US" dirty="0" err="1"/>
              <a:t>toList</a:t>
            </a:r>
            <a:r>
              <a:rPr lang="en-US" dirty="0"/>
              <a:t>();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uppercaseNames</a:t>
            </a:r>
            <a:r>
              <a:rPr lang="en-US" dirty="0"/>
              <a:t>);</a:t>
            </a:r>
          </a:p>
          <a:p>
            <a:r>
              <a:rPr lang="en-US" dirty="0"/>
              <a:t>// [AMINA, BEN, ALICE, DANA, CARLOS]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28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47E9-2B5C-2335-E5CF-48D0BEDF1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value should this element become?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236A2-87AE-8B80-BC75-29DFF984E46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List&lt;Integer&gt; lengths = </a:t>
            </a:r>
            <a:r>
              <a:rPr lang="en-US" dirty="0" err="1">
                <a:latin typeface="Segoe Print" panose="02000800000000000000" pitchFamily="2" charset="0"/>
              </a:rPr>
              <a:t>names.stream</a:t>
            </a:r>
            <a:r>
              <a:rPr lang="en-US" dirty="0">
                <a:latin typeface="Segoe Print" panose="02000800000000000000" pitchFamily="2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    .map(name -&gt; </a:t>
            </a:r>
            <a:r>
              <a:rPr lang="en-US" dirty="0" err="1">
                <a:latin typeface="Segoe Print" panose="02000800000000000000" pitchFamily="2" charset="0"/>
              </a:rPr>
              <a:t>name.length</a:t>
            </a:r>
            <a:r>
              <a:rPr lang="en-US" dirty="0">
                <a:latin typeface="Segoe Print" panose="02000800000000000000" pitchFamily="2" charset="0"/>
              </a:rPr>
              <a:t>())</a:t>
            </a:r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    .</a:t>
            </a:r>
            <a:r>
              <a:rPr lang="en-US" dirty="0" err="1">
                <a:latin typeface="Segoe Print" panose="02000800000000000000" pitchFamily="2" charset="0"/>
              </a:rPr>
              <a:t>toList</a:t>
            </a:r>
            <a:r>
              <a:rPr lang="en-US" dirty="0">
                <a:latin typeface="Segoe Print" panose="02000800000000000000" pitchFamily="2" charset="0"/>
              </a:rPr>
              <a:t>();</a:t>
            </a:r>
          </a:p>
          <a:p>
            <a:pPr marL="0" indent="0">
              <a:buNone/>
            </a:pPr>
            <a:endParaRPr lang="en-US" dirty="0">
              <a:latin typeface="Segoe Print" panose="02000800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latin typeface="Segoe Print" panose="02000800000000000000" pitchFamily="2" charset="0"/>
              </a:rPr>
              <a:t>System.out.println</a:t>
            </a:r>
            <a:r>
              <a:rPr lang="en-US" dirty="0">
                <a:latin typeface="Segoe Print" panose="02000800000000000000" pitchFamily="2" charset="0"/>
              </a:rPr>
              <a:t>(lengths);</a:t>
            </a:r>
          </a:p>
        </p:txBody>
      </p:sp>
    </p:spTree>
    <p:extLst>
      <p:ext uri="{BB962C8B-B14F-4D97-AF65-F5344CB8AC3E}">
        <p14:creationId xmlns:p14="http://schemas.microsoft.com/office/powerpoint/2010/main" val="243967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1001D-02FD-7E2D-2748-39D43BF9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0887-CCC2-42BC-DB06-FC702C32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value should this element become?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145A6-D61C-C4E1-A887-98C84176724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long count = </a:t>
            </a:r>
            <a:r>
              <a:rPr lang="en-US" dirty="0" err="1">
                <a:latin typeface="Segoe Print" panose="02000800000000000000" pitchFamily="2" charset="0"/>
              </a:rPr>
              <a:t>names.stream</a:t>
            </a:r>
            <a:r>
              <a:rPr lang="en-US" dirty="0">
                <a:latin typeface="Segoe Print" panose="02000800000000000000" pitchFamily="2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    .filter(name -&gt; </a:t>
            </a:r>
            <a:r>
              <a:rPr lang="en-US" dirty="0" err="1">
                <a:latin typeface="Segoe Print" panose="02000800000000000000" pitchFamily="2" charset="0"/>
              </a:rPr>
              <a:t>name.length</a:t>
            </a:r>
            <a:r>
              <a:rPr lang="en-US" dirty="0">
                <a:latin typeface="Segoe Print" panose="02000800000000000000" pitchFamily="2" charset="0"/>
              </a:rPr>
              <a:t>() &gt; 4)</a:t>
            </a:r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    .count();</a:t>
            </a:r>
          </a:p>
          <a:p>
            <a:pPr marL="0" indent="0">
              <a:buNone/>
            </a:pPr>
            <a:endParaRPr lang="en-US" dirty="0">
              <a:latin typeface="Segoe Print" panose="02000800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latin typeface="Segoe Print" panose="02000800000000000000" pitchFamily="2" charset="0"/>
              </a:rPr>
              <a:t>System.out.println</a:t>
            </a:r>
            <a:r>
              <a:rPr lang="en-US" dirty="0">
                <a:latin typeface="Segoe Print" panose="02000800000000000000" pitchFamily="2" charset="0"/>
              </a:rPr>
              <a:t>(count); </a:t>
            </a:r>
          </a:p>
        </p:txBody>
      </p:sp>
    </p:spTree>
    <p:extLst>
      <p:ext uri="{BB962C8B-B14F-4D97-AF65-F5344CB8AC3E}">
        <p14:creationId xmlns:p14="http://schemas.microsoft.com/office/powerpoint/2010/main" val="3564279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111E-7261-2D17-9BEA-8D155CB3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7B17-BE4C-02CE-C4E3-7CE4DCD5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61868-4BD3-C604-D1A7-C9EFB845BD2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String[] </a:t>
            </a:r>
            <a:r>
              <a:rPr lang="en-US" dirty="0" err="1">
                <a:latin typeface="Segoe Print" panose="02000800000000000000" pitchFamily="2" charset="0"/>
              </a:rPr>
              <a:t>namesArray</a:t>
            </a:r>
            <a:r>
              <a:rPr lang="en-US" dirty="0">
                <a:latin typeface="Segoe Print" panose="02000800000000000000" pitchFamily="2" charset="0"/>
              </a:rPr>
              <a:t> = </a:t>
            </a:r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      {"Amina", "Ben", "Alice", "Dana", "Carlos"};</a:t>
            </a:r>
          </a:p>
          <a:p>
            <a:pPr marL="0" indent="0">
              <a:buNone/>
            </a:pPr>
            <a:endParaRPr lang="en-US" dirty="0">
              <a:latin typeface="Segoe Print" panose="02000800000000000000" pitchFamily="2" charset="0"/>
            </a:endParaRPr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List&lt;String&gt; selected = </a:t>
            </a:r>
            <a:r>
              <a:rPr lang="en-US" dirty="0" err="1">
                <a:latin typeface="Segoe Print" panose="02000800000000000000" pitchFamily="2" charset="0"/>
              </a:rPr>
              <a:t>Arrays.stream</a:t>
            </a:r>
            <a:r>
              <a:rPr lang="en-US" dirty="0">
                <a:latin typeface="Segoe Print" panose="02000800000000000000" pitchFamily="2" charset="0"/>
              </a:rPr>
              <a:t>(</a:t>
            </a:r>
            <a:r>
              <a:rPr lang="en-US" dirty="0" err="1">
                <a:latin typeface="Segoe Print" panose="02000800000000000000" pitchFamily="2" charset="0"/>
              </a:rPr>
              <a:t>namesArray</a:t>
            </a:r>
            <a:r>
              <a:rPr lang="en-US" dirty="0">
                <a:latin typeface="Segoe Print" panose="02000800000000000000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    .filter(name -&gt; </a:t>
            </a:r>
            <a:r>
              <a:rPr lang="en-US" dirty="0" err="1">
                <a:latin typeface="Segoe Print" panose="02000800000000000000" pitchFamily="2" charset="0"/>
              </a:rPr>
              <a:t>name.startsWith</a:t>
            </a:r>
            <a:r>
              <a:rPr lang="en-US" dirty="0">
                <a:latin typeface="Segoe Print" panose="02000800000000000000" pitchFamily="2" charset="0"/>
              </a:rPr>
              <a:t>("A"))</a:t>
            </a:r>
          </a:p>
          <a:p>
            <a:pPr marL="0" indent="0">
              <a:buNone/>
            </a:pPr>
            <a:r>
              <a:rPr lang="en-US" dirty="0">
                <a:latin typeface="Segoe Print" panose="02000800000000000000" pitchFamily="2" charset="0"/>
              </a:rPr>
              <a:t>    .</a:t>
            </a:r>
            <a:r>
              <a:rPr lang="en-US" dirty="0" err="1">
                <a:latin typeface="Segoe Print" panose="02000800000000000000" pitchFamily="2" charset="0"/>
              </a:rPr>
              <a:t>toList</a:t>
            </a:r>
            <a:r>
              <a:rPr lang="en-US" dirty="0">
                <a:latin typeface="Segoe Print" panose="02000800000000000000" pitchFamily="2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47767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AF73D-B85D-EFDB-34D9-63371FE78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we prefer a loop?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9024-EA0F-238F-01E2-6289C4B68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Prefer a loop when:</a:t>
            </a:r>
          </a:p>
          <a:p>
            <a:pPr lvl="1"/>
            <a:r>
              <a:rPr lang="en-US" dirty="0"/>
              <a:t>Each iteration involves many steps or complicated branching.</a:t>
            </a:r>
          </a:p>
          <a:p>
            <a:pPr lvl="1"/>
            <a:r>
              <a:rPr lang="en-US" dirty="0"/>
              <a:t>You need to update several variables or change existing objects.</a:t>
            </a:r>
          </a:p>
          <a:p>
            <a:pPr lvl="1"/>
            <a:r>
              <a:rPr lang="en-US" dirty="0"/>
              <a:t>You need index-based operations involving neighboring elements.</a:t>
            </a:r>
          </a:p>
          <a:p>
            <a:pPr lvl="1"/>
            <a:r>
              <a:rPr lang="en-US" dirty="0"/>
              <a:t>A loop is simply easier to read.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Streams are especially useful for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producing a result from data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rgbClr val="9437FF"/>
                </a:solidFill>
              </a:rPr>
              <a:t>Loops are often clearer for </a:t>
            </a:r>
            <a:r>
              <a:rPr lang="en-US" b="1" dirty="0">
                <a:solidFill>
                  <a:srgbClr val="9437FF"/>
                </a:solidFill>
              </a:rPr>
              <a:t>performing a sequence of changes</a:t>
            </a:r>
            <a:r>
              <a:rPr lang="en-US" dirty="0">
                <a:solidFill>
                  <a:srgbClr val="9437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160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0E2E5-5668-CC0B-3A52-D9E675A20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&gt;&gt;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FC307-3A3C-AE0C-EA97-2B92B2BF6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stream lets us describe how to select, transform, and summarize data.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filter() decides which elements to keep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map() decides what each element becomes. </a:t>
            </a:r>
          </a:p>
          <a:p>
            <a:endParaRPr lang="en-US" dirty="0"/>
          </a:p>
          <a:p>
            <a:r>
              <a:rPr lang="en-US" dirty="0"/>
              <a:t>Use streams when that pipeline makes the task easier to understand; use loops when they express the steps more clearly.</a:t>
            </a:r>
          </a:p>
        </p:txBody>
      </p:sp>
    </p:spTree>
    <p:extLst>
      <p:ext uri="{BB962C8B-B14F-4D97-AF65-F5344CB8AC3E}">
        <p14:creationId xmlns:p14="http://schemas.microsoft.com/office/powerpoint/2010/main" val="110338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971</TotalTime>
  <Words>687</Words>
  <Application>Microsoft Macintosh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Segoe Print</vt:lpstr>
      <vt:lpstr>Office Theme</vt:lpstr>
      <vt:lpstr>Streams</vt:lpstr>
      <vt:lpstr>Streams</vt:lpstr>
      <vt:lpstr>Streams</vt:lpstr>
      <vt:lpstr>Why and when use streams?</vt:lpstr>
      <vt:lpstr>How is a Stream pipeline organized?</vt:lpstr>
      <vt:lpstr>Select names using filter()</vt:lpstr>
      <vt:lpstr>Transform names using map()</vt:lpstr>
      <vt:lpstr>What value should this element become?</vt:lpstr>
      <vt:lpstr>What value should this element become?</vt:lpstr>
      <vt:lpstr>What about arrays?</vt:lpstr>
      <vt:lpstr>When should we prefer a loop?</vt:lpstr>
      <vt:lpstr>Summary &gt;&gt;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Fahmida Hamid</dc:creator>
  <cp:lastModifiedBy>Fahmida Hamid</cp:lastModifiedBy>
  <cp:revision>29</cp:revision>
  <dcterms:created xsi:type="dcterms:W3CDTF">2026-10-13T13:35:57Z</dcterms:created>
  <dcterms:modified xsi:type="dcterms:W3CDTF">2026-10-15T20:11:41Z</dcterms:modified>
</cp:coreProperties>
</file>