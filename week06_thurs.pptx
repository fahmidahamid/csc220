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9" r:id="rId11"/>
    <p:sldId id="278" r:id="rId12"/>
    <p:sldId id="28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14" d="100"/>
          <a:sy n="114" d="100"/>
        </p:scale>
        <p:origin x="101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8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429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61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704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916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5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64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713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18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882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710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9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22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885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40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455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56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649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985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329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25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50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1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502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250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E846-1968-1211-EB00-8FAC48AC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AE58D-8B7C-054D-FAA2-71F3C1EC5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2DF1-40A2-9975-A0DE-1A1363DA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9003-9578-5052-A770-1155EBA8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94E1-B8E8-F5B2-E3DD-AE9385BC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9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573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6EFE-69F2-1F69-346D-88A940B42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 220</a:t>
            </a:r>
            <a:br>
              <a:rPr lang="en-US" dirty="0"/>
            </a:br>
            <a:r>
              <a:rPr lang="en-US" dirty="0"/>
              <a:t>hash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EDCE7-2794-9C7A-D799-2709DF484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Fahmida Hamid</a:t>
            </a:r>
          </a:p>
        </p:txBody>
      </p:sp>
    </p:spTree>
    <p:extLst>
      <p:ext uri="{BB962C8B-B14F-4D97-AF65-F5344CB8AC3E}">
        <p14:creationId xmlns:p14="http://schemas.microsoft.com/office/powerpoint/2010/main" val="216120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B42E-19D7-D9A3-7361-55DE40D3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Map: the abstract idea, HashMap: implemented class of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E070-7C22-1685-25F5-7412F9179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map</a:t>
            </a:r>
            <a:endParaRPr lang="en-US" dirty="0"/>
          </a:p>
          <a:p>
            <a:pPr lvl="1"/>
            <a:r>
              <a:rPr lang="en-US" dirty="0"/>
              <a:t>directly associates each key with a value and </a:t>
            </a:r>
          </a:p>
          <a:p>
            <a:pPr lvl="1"/>
            <a:r>
              <a:rPr lang="en-US" dirty="0"/>
              <a:t>typically lets us look up a value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constant time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4F04-BDD5-4E6C-4017-51ED3C0F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5" y="691868"/>
            <a:ext cx="10999473" cy="630202"/>
          </a:xfrm>
        </p:spPr>
        <p:txBody>
          <a:bodyPr>
            <a:normAutofit/>
          </a:bodyPr>
          <a:lstStyle/>
          <a:p>
            <a:r>
              <a:rPr lang="en-US" dirty="0"/>
              <a:t>Direct addressing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D4668-21F0-B271-BED0-C842E20F5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hash table generalizes the simpler notion of an ordinary array.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600" dirty="0"/>
              <a:t>Direct addressing is a simple technique that works well when the universe U of keys is reasonably small.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434F9E-BC36-AD93-7262-0060FCE2F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59" y="1768120"/>
            <a:ext cx="6774881" cy="376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32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6D97DA-A27D-0820-D778-1E0BBDE3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BDA55-088B-F3D5-CF4B-DDD3DBAE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downside of direct addressing is obvious: if the universe U is large, storing a table T of size |U| may be </a:t>
            </a:r>
            <a:r>
              <a:rPr lang="en-US" dirty="0">
                <a:solidFill>
                  <a:srgbClr val="0432FF"/>
                </a:solidFill>
              </a:rPr>
              <a:t>impractical</a:t>
            </a:r>
            <a:r>
              <a:rPr lang="en-US" dirty="0"/>
              <a:t>, or even </a:t>
            </a:r>
            <a:r>
              <a:rPr lang="en-US" dirty="0">
                <a:solidFill>
                  <a:srgbClr val="0432FF"/>
                </a:solidFill>
              </a:rPr>
              <a:t>impossible</a:t>
            </a:r>
            <a:r>
              <a:rPr lang="en-US" dirty="0"/>
              <a:t>, given the memory available on a typical computer.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20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8310-9F21-29A6-D295-E700E800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 and hash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65719-F951-AD57-7D75-2095587AE6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With direct addressing, an element with key </a:t>
                </a:r>
                <a:r>
                  <a:rPr lang="en-US" dirty="0">
                    <a:solidFill>
                      <a:srgbClr val="0432FF"/>
                    </a:solidFill>
                  </a:rPr>
                  <a:t>k </a:t>
                </a:r>
                <a:r>
                  <a:rPr lang="en-US" dirty="0"/>
                  <a:t>is stored in slot k. </a:t>
                </a:r>
              </a:p>
              <a:p>
                <a:endParaRPr lang="en-US" dirty="0"/>
              </a:p>
              <a:p>
                <a:r>
                  <a:rPr lang="en-US" dirty="0"/>
                  <a:t>With hashing, this element is stored in slot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that is, we use a hash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compute the slot from the key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432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 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165719-F951-AD57-7D75-2095587AE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1266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A8368-9FE1-AB81-AE48-799FD422F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tables &amp; collision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A2A22B-3D96-5C20-FA93-7C7B45A89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5019" y="1489075"/>
            <a:ext cx="7567024" cy="470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3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3765-37A0-CCA0-E55F-94E8D86FC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Collision resolution by chaining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6D9EF1-FB73-092C-0F54-0AEBB18B7D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332" y="1489075"/>
            <a:ext cx="9806399" cy="470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87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D1777-D3AD-8D96-D907-986FFEB1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makes a good hash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0D7F3-5F73-044F-DB31-69945B845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good hash function satisfies (approximately) the assumption of simple </a:t>
            </a:r>
            <a:r>
              <a:rPr lang="en-US" b="1" dirty="0">
                <a:solidFill>
                  <a:srgbClr val="0432FF"/>
                </a:solidFill>
              </a:rPr>
              <a:t>uniform hashing: </a:t>
            </a:r>
          </a:p>
          <a:p>
            <a:r>
              <a:rPr lang="en-US" dirty="0">
                <a:solidFill>
                  <a:srgbClr val="7030A0"/>
                </a:solidFill>
              </a:rPr>
              <a:t>each key is equally likely to hash to any of the m slots,</a:t>
            </a:r>
          </a:p>
          <a:p>
            <a:r>
              <a:rPr lang="en-US" dirty="0">
                <a:solidFill>
                  <a:srgbClr val="7030A0"/>
                </a:solidFill>
              </a:rPr>
              <a:t>independently of where any other key has hashed to.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2400" dirty="0"/>
              <a:t>Unfortunately, we typically have no way to check this condition, since we rarely know the probability distribution from which the keys are drawn. Moreover, the keys might not be drawn independently.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4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E245E-F47D-C0AD-C7FC-219F9A83F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division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C6498D-D9F4-6431-2058-2F9ACDBD3C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In the division method for creating hash functions, we map a key k into one of m slots by taking the remainder of k divided by m.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C6498D-D9F4-6431-2058-2F9ACDBD3C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7776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AB51-C4AE-576C-D58D-66672559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multiplication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5F845-5560-351F-0810-C9F83B6A38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Multiplication uses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𝑘𝐴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 1)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Universal hashing randomly selects a function from a suitable family.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95F845-5560-351F-0810-C9F83B6A38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r="-12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6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AB05-A530-22DB-9C3B-FDF1946B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/>
          <a:p>
            <a:r>
              <a:rPr lang="en-US" dirty="0"/>
              <a:t>Open addressing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699B47E-4EEB-429D-7837-2201A78EDE8E}"/>
                  </a:ext>
                </a:extLst>
              </p:cNvPr>
              <p:cNvGraphicFramePr>
                <a:graphicFrameLocks noGrp="1"/>
              </p:cNvGraphicFramePr>
              <p:nvPr>
                <p:ph sz="quarter" idx="13"/>
                <p:extLst>
                  <p:ext uri="{D42A27DB-BD31-4B8C-83A1-F6EECF244321}">
                    <p14:modId xmlns:p14="http://schemas.microsoft.com/office/powerpoint/2010/main" val="991418819"/>
                  </p:ext>
                </p:extLst>
              </p:nvPr>
            </p:nvGraphicFramePr>
            <p:xfrm>
              <a:off x="516419" y="920924"/>
              <a:ext cx="11159164" cy="3666869"/>
            </p:xfrm>
            <a:graphic>
              <a:graphicData uri="http://schemas.openxmlformats.org/drawingml/2006/table">
                <a:tbl>
                  <a:tblPr>
                    <a:solidFill>
                      <a:schemeClr val="bg1">
                        <a:lumMod val="95000"/>
                      </a:schemeClr>
                    </a:solidFill>
                    <a:tableStyleId>{5C22544A-7EE6-4342-B048-85BDC9FD1C3A}</a:tableStyleId>
                  </a:tblPr>
                  <a:tblGrid>
                    <a:gridCol w="1685192">
                      <a:extLst>
                        <a:ext uri="{9D8B030D-6E8A-4147-A177-3AD203B41FA5}">
                          <a16:colId xmlns:a16="http://schemas.microsoft.com/office/drawing/2014/main" val="3023738527"/>
                        </a:ext>
                      </a:extLst>
                    </a:gridCol>
                    <a:gridCol w="4679187">
                      <a:extLst>
                        <a:ext uri="{9D8B030D-6E8A-4147-A177-3AD203B41FA5}">
                          <a16:colId xmlns:a16="http://schemas.microsoft.com/office/drawing/2014/main" val="2975702494"/>
                        </a:ext>
                      </a:extLst>
                    </a:gridCol>
                    <a:gridCol w="4794785">
                      <a:extLst>
                        <a:ext uri="{9D8B030D-6E8A-4147-A177-3AD203B41FA5}">
                          <a16:colId xmlns:a16="http://schemas.microsoft.com/office/drawing/2014/main" val="3231731164"/>
                        </a:ext>
                      </a:extLst>
                    </a:gridCol>
                  </a:tblGrid>
                  <a:tr h="6824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Formula for this exercise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Final placement [m=11]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653107"/>
                      </a:ext>
                    </a:extLst>
                  </a:tr>
                  <a:tr h="6824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Linear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200" i="1" cap="none" spc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22→0, 33→1, 44→2, 27→5, 38→6 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7478997"/>
                      </a:ext>
                    </a:extLst>
                  </a:tr>
                  <a:tr h="6824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Quadratic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  <m:d>
                                  <m:dPr>
                                    <m:ctrlP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d>
                                  <m:dPr>
                                    <m:ctrlP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200" b="0" i="1" cap="none" spc="0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US" sz="2200" i="1" cap="none" spc="0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sz="2200" i="1" cap="none" spc="0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200" i="1" cap="none" spc="0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p>
                                        <m:r>
                                          <a:rPr lang="en-US" sz="2200" b="0" i="1" cap="none" spc="0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00" i="1" cap="none" spc="0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200" b="0" i="1" cap="none" spc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200" cap="none" spc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>
                            <a:buNone/>
                          </a:pPr>
                          <a:endParaRPr lang="en-US" sz="22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22→0, 33→1, 44→4, 27→5, 38→6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374509"/>
                      </a:ext>
                    </a:extLst>
                  </a:tr>
                  <a:tr h="13483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Double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d>
                                <m:dPr>
                                  <m:ctrlP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cap="none" spc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cap="none" spc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 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ℎ</m:t>
                                  </m:r>
                                </m:e>
                                <m:sub>
                                  <m:r>
                                    <a:rPr lang="en-US" sz="2200" b="0" i="1" cap="none" spc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cap="none" spc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 are two hash functions.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22→0, 33→4, 44→5, 27→2, 38→3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592454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699B47E-4EEB-429D-7837-2201A78EDE8E}"/>
                  </a:ext>
                </a:extLst>
              </p:cNvPr>
              <p:cNvGraphicFramePr>
                <a:graphicFrameLocks noGrp="1"/>
              </p:cNvGraphicFramePr>
              <p:nvPr>
                <p:ph sz="quarter" idx="13"/>
                <p:extLst>
                  <p:ext uri="{D42A27DB-BD31-4B8C-83A1-F6EECF244321}">
                    <p14:modId xmlns:p14="http://schemas.microsoft.com/office/powerpoint/2010/main" val="991418819"/>
                  </p:ext>
                </p:extLst>
              </p:nvPr>
            </p:nvGraphicFramePr>
            <p:xfrm>
              <a:off x="516419" y="920924"/>
              <a:ext cx="11159164" cy="3666869"/>
            </p:xfrm>
            <a:graphic>
              <a:graphicData uri="http://schemas.openxmlformats.org/drawingml/2006/table">
                <a:tbl>
                  <a:tblPr>
                    <a:solidFill>
                      <a:schemeClr val="bg1">
                        <a:lumMod val="95000"/>
                      </a:schemeClr>
                    </a:solidFill>
                    <a:tableStyleId>{5C22544A-7EE6-4342-B048-85BDC9FD1C3A}</a:tableStyleId>
                  </a:tblPr>
                  <a:tblGrid>
                    <a:gridCol w="1685192">
                      <a:extLst>
                        <a:ext uri="{9D8B030D-6E8A-4147-A177-3AD203B41FA5}">
                          <a16:colId xmlns:a16="http://schemas.microsoft.com/office/drawing/2014/main" val="3023738527"/>
                        </a:ext>
                      </a:extLst>
                    </a:gridCol>
                    <a:gridCol w="4679187">
                      <a:extLst>
                        <a:ext uri="{9D8B030D-6E8A-4147-A177-3AD203B41FA5}">
                          <a16:colId xmlns:a16="http://schemas.microsoft.com/office/drawing/2014/main" val="2975702494"/>
                        </a:ext>
                      </a:extLst>
                    </a:gridCol>
                    <a:gridCol w="4794785">
                      <a:extLst>
                        <a:ext uri="{9D8B030D-6E8A-4147-A177-3AD203B41FA5}">
                          <a16:colId xmlns:a16="http://schemas.microsoft.com/office/drawing/2014/main" val="3231731164"/>
                        </a:ext>
                      </a:extLst>
                    </a:gridCol>
                  </a:tblGrid>
                  <a:tr h="6824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Method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Formula for this exercise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Final placement [m=11]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9525" cap="flat" cmpd="sng" algn="ctr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4653107"/>
                      </a:ext>
                    </a:extLst>
                  </a:tr>
                  <a:tr h="68249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Linear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36314" t="-101852" r="-102439" b="-3370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22→0, 33→1, 44→2, 27→5, 38→6 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7478997"/>
                      </a:ext>
                    </a:extLst>
                  </a:tr>
                  <a:tr h="953544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Quadratic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36314" t="-145333" r="-102439" b="-14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22→0, 33→1, 44→4, 27→5, 38→6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374509"/>
                      </a:ext>
                    </a:extLst>
                  </a:tr>
                  <a:tr h="134833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>
                              <a:solidFill>
                                <a:schemeClr val="tx1"/>
                              </a:solidFill>
                            </a:rPr>
                            <a:t>Double</a:t>
                          </a:r>
                        </a:p>
                      </a:txBody>
                      <a:tcPr marL="116523" marR="166462" marT="33292" marB="24969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blipFill>
                          <a:blip r:embed="rId2"/>
                          <a:stretch>
                            <a:fillRect l="-36314" t="-171963" r="-1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2200" cap="none" spc="0" dirty="0">
                              <a:solidFill>
                                <a:schemeClr val="tx1"/>
                              </a:solidFill>
                            </a:rPr>
                            <a:t>22→0, 33→4, 44→5, 27→2, 38→3</a:t>
                          </a:r>
                        </a:p>
                      </a:txBody>
                      <a:tcPr marL="116523" marR="166462" marT="33292" marB="249692" anchor="ctr">
                        <a:lnL w="12700" cmpd="sng">
                          <a:noFill/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59245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111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10462A2-C206-36A8-E068-0FBBBAE85E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deletion puzzle: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11+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11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itle 3">
                <a:extLst>
                  <a:ext uri="{FF2B5EF4-FFF2-40B4-BE49-F238E27FC236}">
                    <a16:creationId xmlns:a16="http://schemas.microsoft.com/office/drawing/2014/main" id="{110462A2-C206-36A8-E068-0FBBBAE85E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5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1817244-E5B5-31E2-32B6-FB31942D5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6137497"/>
              </p:ext>
            </p:extLst>
          </p:nvPr>
        </p:nvGraphicFramePr>
        <p:xfrm>
          <a:off x="2888166" y="2229132"/>
          <a:ext cx="6846850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8507">
                  <a:extLst>
                    <a:ext uri="{9D8B030D-6E8A-4147-A177-3AD203B41FA5}">
                      <a16:colId xmlns:a16="http://schemas.microsoft.com/office/drawing/2014/main" val="3291443297"/>
                    </a:ext>
                  </a:extLst>
                </a:gridCol>
                <a:gridCol w="2387817">
                  <a:extLst>
                    <a:ext uri="{9D8B030D-6E8A-4147-A177-3AD203B41FA5}">
                      <a16:colId xmlns:a16="http://schemas.microsoft.com/office/drawing/2014/main" val="1337638240"/>
                    </a:ext>
                  </a:extLst>
                </a:gridCol>
                <a:gridCol w="3020526">
                  <a:extLst>
                    <a:ext uri="{9D8B030D-6E8A-4147-A177-3AD203B41FA5}">
                      <a16:colId xmlns:a16="http://schemas.microsoft.com/office/drawing/2014/main" val="3069730889"/>
                    </a:ext>
                  </a:extLst>
                </a:gridCol>
              </a:tblGrid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Initial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Final index after collision resolution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737247"/>
                  </a:ext>
                </a:extLst>
              </a:tr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5399483"/>
                  </a:ext>
                </a:extLst>
              </a:tr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526655"/>
                  </a:ext>
                </a:extLst>
              </a:tr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5060323"/>
                  </a:ext>
                </a:extLst>
              </a:tr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0878768"/>
                  </a:ext>
                </a:extLst>
              </a:tr>
              <a:tr h="365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09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474932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406</TotalTime>
  <Words>471</Words>
  <Application>Microsoft Macintosh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Lines</vt:lpstr>
      <vt:lpstr>CSC 220 hash function</vt:lpstr>
      <vt:lpstr>Map: the abstract idea, HashMap: implemented class of map</vt:lpstr>
      <vt:lpstr>Direct addressing</vt:lpstr>
      <vt:lpstr>Hash table</vt:lpstr>
      <vt:lpstr>Hash table and hash function</vt:lpstr>
      <vt:lpstr>Hash tables &amp; collision</vt:lpstr>
      <vt:lpstr>Collision resolution by chaining</vt:lpstr>
      <vt:lpstr>What makes a good hash function?</vt:lpstr>
      <vt:lpstr>The division method</vt:lpstr>
      <vt:lpstr>The multiplication method</vt:lpstr>
      <vt:lpstr>Open addressing</vt:lpstr>
      <vt:lpstr>The deletion puzzle: h(k)=(k mod 11+i)mod 11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24</cp:revision>
  <dcterms:created xsi:type="dcterms:W3CDTF">2026-09-29T03:15:22Z</dcterms:created>
  <dcterms:modified xsi:type="dcterms:W3CDTF">2026-10-01T18:48:30Z</dcterms:modified>
</cp:coreProperties>
</file>