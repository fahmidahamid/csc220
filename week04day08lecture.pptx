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3" r:id="rId17"/>
    <p:sldId id="275" r:id="rId18"/>
    <p:sldId id="272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ADAE1-7397-25C3-5389-6AE77D798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BE383-3E4C-1752-3AA7-6C1C06BBC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EDC81-442B-1E45-5BC4-BE046BF38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F401E-52C6-F978-626A-B3DB8C76A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BC975-75BA-2DAA-C833-7ACDD417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82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7CF7-D84A-0CBE-2DAD-10974C2B8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5AFD0-C25C-3D25-453D-79134758D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F7C71-3DFD-1E90-3D29-B319CFF51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FBE77-4DE7-ADB4-BA55-02A3F30DA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8CCB5-8A9B-2613-84BB-5EF785D6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77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CCD6-81CF-C5C8-AFB1-54F96C65B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3AC5C-3F85-614D-7924-33A319133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84F8C-4379-5980-5722-E09446AD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8A8C4-94FC-6097-18FA-FD7F5771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04386-863B-4318-6944-54ECE4338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76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58C3-7060-4CA2-7818-3011CCC09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76797-3A4C-58C6-CC26-D5DE2D44CD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79D38-4A3D-6299-C8F6-2FE66F8C3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F3A48-6E8E-B1C0-8344-D32B159ED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4CA30-0930-4913-24F4-2E7FDB039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3147E-C33B-E255-6F2A-8D17993C4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99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A00C-7E0F-B50D-5CBF-473DC4516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5DAC1-4A72-1230-5F69-150844E57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421C6-79DD-A244-02AB-2E1BC677A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4B551E-6394-7564-3223-53D3452D3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EB91A9-E759-3A02-615A-908FCE8C3E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5A6D95-6FA6-D2E1-AF60-CEDF9361C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61C92F-909F-BB36-CD2A-DA20876B6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51160C-FC1D-F451-140A-5D5894153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991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36191-1933-F899-7952-57878C4E2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48519-6EBB-D48C-215D-9CEC6425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ACC6E-7CBC-2A6E-FDD4-77B61F802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1F95A-35CD-895F-A792-7A32EC4E8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67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0DE6C5-268A-AB5E-A42B-2BF645398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9589AC-522C-1729-1FEC-1096840D3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B431B-ACB7-D660-C7BD-5A7C0DA8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23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FECDE-550F-D1D8-516D-29789A3F8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0A145-1B31-5E47-CFC9-7568120E9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5A524-567A-F925-C589-B01C63CEF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A4D1C-73A4-962F-699B-3C59A14E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30B1C-CCCA-A3EB-92B5-BCB4328E6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51316-6DA1-5FA1-AD26-D2D8C1BE4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34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35E38-AEBC-D3B3-FE28-90471B49D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7153C5-6E84-39C6-ECB9-14058D8B12C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1209D-891B-724E-DBFC-04EE17C3D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FFDF5-7E32-86FC-A480-4E8F3F342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715A2-EA9D-EAA7-DB6A-DD1DD9E06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A77BA-DD3D-0C27-8417-C5A7D93C8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4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8E1AC-EE93-B94F-D201-18A27D60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FDB73-14E9-58CE-A394-E090B24F5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D7F07-05C6-77DA-C546-848187D21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92203-71CD-39FA-0596-4EBCA1FE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9D5A8-0CCE-88B4-98CF-D9ED99619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2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ABEE1A-54B1-1E24-585D-6B746AAC2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EF60F-2E1A-1F49-8F50-362E1DB52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43E69-DB4F-559A-CE81-89F630A09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C6D1-F240-C5D7-9F0F-A606E7E8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26FB2-E8E5-D7B4-4D77-4C843CFDB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9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CD1FB-FAC7-42D7-53E7-5A3018DB6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EF9D0-0013-582C-B11C-7E68B58EC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B7237-4398-8007-EA7B-24403FF339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2254D-EC3D-9C45-8155-F2679566BEB6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69297-DE8F-02F6-8320-7EC54720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5C969-64A2-EEFE-7AEC-2F83C6EE3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0A46D8-420E-7445-ADC3-96D1EC4F4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19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Open%E2%80%93closed_principle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ify.com/solid-design-open-closed-principle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java/generics/" TargetMode="External"/><Relationship Id="rId2" Type="http://schemas.openxmlformats.org/officeDocument/2006/relationships/hyperlink" Target="https://medium.com/@dheeraj.bartwal91/java-generics-explained-from-basics-to-advanced-with-real-world-examples-bff9dd5c8c5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219B11-C6D4-F897-45B1-6087F5C093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SOLID Principles </a:t>
            </a:r>
            <a:br>
              <a:rPr lang="en-US" dirty="0"/>
            </a:br>
            <a:r>
              <a:rPr lang="en-US" dirty="0"/>
              <a:t>&amp; Generics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F71AB60-441F-916A-3E47-4D1E8E2A71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F. Hamid</a:t>
            </a:r>
          </a:p>
        </p:txBody>
      </p:sp>
    </p:spTree>
    <p:extLst>
      <p:ext uri="{BB962C8B-B14F-4D97-AF65-F5344CB8AC3E}">
        <p14:creationId xmlns:p14="http://schemas.microsoft.com/office/powerpoint/2010/main" val="1825797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E74F-BEFD-3DB0-5641-1E934CC4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44EC6-AAAF-F72D-AD60-7AD935216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Single Responsibility Principle</a:t>
            </a:r>
          </a:p>
          <a:p>
            <a:r>
              <a:rPr lang="en-US" dirty="0"/>
              <a:t>Open-Closed Principle</a:t>
            </a:r>
          </a:p>
          <a:p>
            <a:r>
              <a:rPr lang="en-US" dirty="0" err="1"/>
              <a:t>Liskov’s</a:t>
            </a:r>
            <a:r>
              <a:rPr lang="en-US" dirty="0"/>
              <a:t> Substitute Principle</a:t>
            </a:r>
          </a:p>
          <a:p>
            <a:r>
              <a:rPr lang="en-US" dirty="0"/>
              <a:t>Interface Segregation Principle</a:t>
            </a:r>
          </a:p>
          <a:p>
            <a:r>
              <a:rPr lang="en-US" dirty="0"/>
              <a:t>Dependency Inversion Principle</a:t>
            </a:r>
          </a:p>
          <a:p>
            <a:endParaRPr lang="en-US" dirty="0"/>
          </a:p>
          <a:p>
            <a:pPr lvl="1"/>
            <a:r>
              <a:rPr lang="en-US" dirty="0"/>
              <a:t>SOLID isn't a set of Java syntax rules. </a:t>
            </a:r>
          </a:p>
          <a:p>
            <a:pPr lvl="1"/>
            <a:r>
              <a:rPr lang="en-US" dirty="0"/>
              <a:t>Your program will compile even if you completely ignore SOLID. </a:t>
            </a:r>
          </a:p>
          <a:p>
            <a:pPr lvl="1"/>
            <a:r>
              <a:rPr lang="en-US" dirty="0"/>
              <a:t>These are design principles that help us make better decisions as our software becomes larger.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77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BB99-BD59-190E-24E4-C6431351B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Responsibility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1642D-64C2-DD16-92B0-9AE06A67E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simple starting definition:</a:t>
            </a:r>
          </a:p>
          <a:p>
            <a:pPr lvl="1"/>
            <a:r>
              <a:rPr lang="en-US" b="1" dirty="0"/>
              <a:t>A class should have one primary responsibility.</a:t>
            </a:r>
            <a:endParaRPr lang="en-US" dirty="0"/>
          </a:p>
          <a:p>
            <a:endParaRPr lang="en-US" dirty="0"/>
          </a:p>
          <a:p>
            <a:r>
              <a:rPr lang="en-US" dirty="0"/>
              <a:t>slightly more formal version:</a:t>
            </a:r>
          </a:p>
          <a:p>
            <a:pPr lvl="1"/>
            <a:r>
              <a:rPr lang="en-US" b="1" dirty="0"/>
              <a:t>A class should have one reason to change.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270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DBB79-16DF-CDAC-A3FD-1ECFD6A32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98089-F404-3413-E7C0-48C7EEB1B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Responsibility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0F2A9-EA46-AFD9-150F-C3436E91F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 the initial version of the </a:t>
            </a:r>
            <a:r>
              <a:rPr lang="en-US" dirty="0">
                <a:solidFill>
                  <a:srgbClr val="0070C0"/>
                </a:solidFill>
              </a:rPr>
              <a:t>Student </a:t>
            </a:r>
            <a:r>
              <a:rPr lang="en-US" dirty="0"/>
              <a:t>class, we bundled several responsibilities into the class that were not naturally or tightly associated with representing a Student. </a:t>
            </a:r>
          </a:p>
          <a:p>
            <a:endParaRPr lang="en-US" dirty="0"/>
          </a:p>
          <a:p>
            <a:r>
              <a:rPr lang="en-US" dirty="0"/>
              <a:t>So, we </a:t>
            </a:r>
            <a:r>
              <a:rPr lang="en-US" b="1" dirty="0"/>
              <a:t>refactored</a:t>
            </a:r>
            <a:r>
              <a:rPr lang="en-US" dirty="0"/>
              <a:t> the class and moved some of those responsibilities into separate classes.</a:t>
            </a:r>
          </a:p>
        </p:txBody>
      </p:sp>
    </p:spTree>
    <p:extLst>
      <p:ext uri="{BB962C8B-B14F-4D97-AF65-F5344CB8AC3E}">
        <p14:creationId xmlns:p14="http://schemas.microsoft.com/office/powerpoint/2010/main" val="3568574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22636-FC9A-F607-FF17-2B7411F44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Structure of Our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882DB-DE5C-A17C-BD8C-7D491E133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 Class</a:t>
            </a:r>
          </a:p>
          <a:p>
            <a:pPr marL="0" indent="0">
              <a:buNone/>
            </a:pPr>
            <a:r>
              <a:rPr lang="en-US" dirty="0"/>
              <a:t>    → represents/stores student information</a:t>
            </a:r>
          </a:p>
          <a:p>
            <a:endParaRPr lang="en-US" dirty="0"/>
          </a:p>
          <a:p>
            <a:r>
              <a:rPr lang="en-US" dirty="0" err="1"/>
              <a:t>EmailGenerator</a:t>
            </a:r>
            <a:r>
              <a:rPr lang="en-US" dirty="0"/>
              <a:t> Class</a:t>
            </a:r>
          </a:p>
          <a:p>
            <a:pPr marL="0" indent="0">
              <a:buNone/>
            </a:pPr>
            <a:r>
              <a:rPr lang="en-US" dirty="0"/>
              <a:t>   → handles email-generation logic</a:t>
            </a:r>
          </a:p>
          <a:p>
            <a:endParaRPr lang="en-US" dirty="0"/>
          </a:p>
          <a:p>
            <a:r>
              <a:rPr lang="en-US" dirty="0" err="1"/>
              <a:t>SaveDataToAFile</a:t>
            </a:r>
            <a:r>
              <a:rPr lang="en-US" dirty="0"/>
              <a:t> Class</a:t>
            </a:r>
          </a:p>
          <a:p>
            <a:pPr marL="0" indent="0">
              <a:buNone/>
            </a:pPr>
            <a:r>
              <a:rPr lang="en-US" dirty="0"/>
              <a:t>    → handles file-writing logic</a:t>
            </a:r>
          </a:p>
        </p:txBody>
      </p:sp>
    </p:spTree>
    <p:extLst>
      <p:ext uri="{BB962C8B-B14F-4D97-AF65-F5344CB8AC3E}">
        <p14:creationId xmlns:p14="http://schemas.microsoft.com/office/powerpoint/2010/main" val="4117355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03925F-0A68-B00D-6626-9E3E434F2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Single Responsibility does not mean single method. 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It means the methods and data of a class should generally work together toward one cohesive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3835781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EC4D6-ED33-8CCB-157E-8555B0562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Open-Closed Principle (SRP)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AE7F1-ABCA-7635-8163-DB4EEA5A8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hlinkClick r:id="rId2"/>
              </a:rPr>
              <a:t>Open–Closed Principle (OCP)</a:t>
            </a:r>
            <a:r>
              <a:rPr lang="en-US" dirty="0"/>
              <a:t> states that software entities like classes, modules, and functions should be open for extension but closed for modification. </a:t>
            </a:r>
          </a:p>
        </p:txBody>
      </p:sp>
    </p:spTree>
    <p:extLst>
      <p:ext uri="{BB962C8B-B14F-4D97-AF65-F5344CB8AC3E}">
        <p14:creationId xmlns:p14="http://schemas.microsoft.com/office/powerpoint/2010/main" val="81583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11C6AA-E6E9-CE7B-C376-A70E08699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900" y="694734"/>
            <a:ext cx="10910777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What kind of object can we save using this method?</a:t>
            </a:r>
            <a:br>
              <a:rPr lang="en-US" dirty="0"/>
            </a:br>
            <a:endParaRPr lang="en-US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1201B14-2980-74B8-FD9C-0378636E1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8900" y="2371060"/>
            <a:ext cx="10484899" cy="327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68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58B6E1-8A2F-0D6D-02A6-9C8214D8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and </a:t>
            </a:r>
            <a:r>
              <a:rPr lang="en-US" dirty="0" err="1"/>
              <a:t>saveDataToAFile</a:t>
            </a:r>
            <a:r>
              <a:rPr lang="en-US" dirty="0"/>
              <a:t> are still </a:t>
            </a:r>
            <a:r>
              <a:rPr lang="en-US" dirty="0">
                <a:solidFill>
                  <a:srgbClr val="FF0000"/>
                </a:solidFill>
              </a:rPr>
              <a:t>tightly coupled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1625E-5DE2-469D-FDCA-2229B0E04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What happens when Faculty arrives?</a:t>
            </a:r>
          </a:p>
          <a:p>
            <a:r>
              <a:rPr lang="en-US" dirty="0"/>
              <a:t>=&gt; Can we </a:t>
            </a:r>
            <a:r>
              <a:rPr lang="en-US" b="1" dirty="0">
                <a:solidFill>
                  <a:srgbClr val="FF0000"/>
                </a:solidFill>
              </a:rPr>
              <a:t>reuse</a:t>
            </a:r>
            <a:r>
              <a:rPr lang="en-US" dirty="0"/>
              <a:t> the </a:t>
            </a:r>
            <a:r>
              <a:rPr lang="en-US" b="1" dirty="0" err="1">
                <a:solidFill>
                  <a:srgbClr val="7030A0"/>
                </a:solidFill>
              </a:rPr>
              <a:t>saveDataToAFile</a:t>
            </a:r>
            <a:r>
              <a:rPr lang="en-US" dirty="0"/>
              <a:t> method to store Faculty information?</a:t>
            </a:r>
          </a:p>
        </p:txBody>
      </p:sp>
    </p:spTree>
    <p:extLst>
      <p:ext uri="{BB962C8B-B14F-4D97-AF65-F5344CB8AC3E}">
        <p14:creationId xmlns:p14="http://schemas.microsoft.com/office/powerpoint/2010/main" val="402785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A91D-DC25-175A-01D3-4F27B4C8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970290" cy="2852737"/>
          </a:xfrm>
        </p:spPr>
        <p:txBody>
          <a:bodyPr/>
          <a:lstStyle/>
          <a:p>
            <a:r>
              <a:rPr lang="en-US" dirty="0"/>
              <a:t>OPEN-CLOSED Principle</a:t>
            </a:r>
            <a:br>
              <a:rPr lang="en-US" dirty="0"/>
            </a:br>
            <a:r>
              <a:rPr lang="en-US" dirty="0"/>
              <a:t>=&gt; [after the new refactoring/adjustment]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C5366-8D49-48CE-2824-00458E074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file-saving mechanism is </a:t>
            </a:r>
            <a:r>
              <a:rPr lang="en-US" b="1" dirty="0"/>
              <a:t>now more open to extension</a:t>
            </a:r>
            <a:r>
              <a:rPr lang="en-US" dirty="0"/>
              <a:t>. </a:t>
            </a:r>
          </a:p>
          <a:p>
            <a:r>
              <a:rPr lang="en-US" dirty="0"/>
              <a:t>We can introduce another Savable type (say Staff) without modifying the existing </a:t>
            </a:r>
            <a:r>
              <a:rPr lang="en-US" dirty="0" err="1"/>
              <a:t>saveDataToAFile</a:t>
            </a:r>
            <a:r>
              <a:rPr lang="en-US" dirty="0"/>
              <a:t>() method.</a:t>
            </a:r>
          </a:p>
        </p:txBody>
      </p:sp>
    </p:spTree>
    <p:extLst>
      <p:ext uri="{BB962C8B-B14F-4D97-AF65-F5344CB8AC3E}">
        <p14:creationId xmlns:p14="http://schemas.microsoft.com/office/powerpoint/2010/main" val="3419921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1CB011-534F-31E9-D3B4-49F75E529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OCP =&gt; Core Concepts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D31330-4CAE-1A16-B39E-B89BA148B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b="1" dirty="0"/>
              <a:t>Open for extension:</a:t>
            </a:r>
            <a:r>
              <a:rPr lang="en-US" dirty="0"/>
              <a:t> You can add new features or behaviors to the system.</a:t>
            </a:r>
          </a:p>
          <a:p>
            <a:pPr lvl="0"/>
            <a:r>
              <a:rPr lang="en-US" b="1" dirty="0"/>
              <a:t>Closed for modification:</a:t>
            </a:r>
            <a:r>
              <a:rPr lang="en-US" dirty="0"/>
              <a:t> You do this without changing existing, tested source code.</a:t>
            </a:r>
          </a:p>
          <a:p>
            <a:pPr lvl="0"/>
            <a:r>
              <a:rPr lang="en-US" b="1" dirty="0"/>
              <a:t>Goal:</a:t>
            </a:r>
            <a:r>
              <a:rPr lang="en-US" dirty="0"/>
              <a:t> Avoid breaking old features when adding new ones. </a:t>
            </a:r>
          </a:p>
          <a:p>
            <a:endParaRPr lang="en-US" b="1" dirty="0"/>
          </a:p>
          <a:p>
            <a:r>
              <a:rPr lang="en-US" b="1" dirty="0"/>
              <a:t>How It Works</a:t>
            </a:r>
          </a:p>
          <a:p>
            <a:pPr lvl="1"/>
            <a:r>
              <a:rPr lang="en-US" b="1" dirty="0"/>
              <a:t>Abstractions:</a:t>
            </a:r>
            <a:r>
              <a:rPr lang="en-US" dirty="0"/>
              <a:t> Use </a:t>
            </a:r>
            <a:r>
              <a:rPr lang="en-US" dirty="0">
                <a:hlinkClick r:id="rId2"/>
              </a:rPr>
              <a:t>interfaces</a:t>
            </a:r>
            <a:r>
              <a:rPr lang="en-US" dirty="0"/>
              <a:t> or abstract base classes.</a:t>
            </a:r>
          </a:p>
          <a:p>
            <a:pPr lvl="1"/>
            <a:r>
              <a:rPr lang="en-US" b="1" dirty="0"/>
              <a:t>Polymorphism:</a:t>
            </a:r>
            <a:r>
              <a:rPr lang="en-US" dirty="0"/>
              <a:t> Write new classes that implement the interface instead of editing old logic.</a:t>
            </a:r>
          </a:p>
          <a:p>
            <a:pPr lvl="1"/>
            <a:r>
              <a:rPr lang="en-US" b="1" dirty="0"/>
              <a:t>Composition:</a:t>
            </a:r>
            <a:r>
              <a:rPr lang="en-US" dirty="0"/>
              <a:t> Combine objects to build new behaviors safely.</a:t>
            </a:r>
          </a:p>
          <a:p>
            <a:r>
              <a:rPr lang="en-US" b="1" dirty="0"/>
              <a:t>Benefits</a:t>
            </a:r>
          </a:p>
          <a:p>
            <a:pPr lvl="1"/>
            <a:r>
              <a:rPr lang="en-US" b="1" dirty="0"/>
              <a:t>Lower risk:</a:t>
            </a:r>
            <a:r>
              <a:rPr lang="en-US" dirty="0"/>
              <a:t> Existing code stays untouched, reducing new bugs.</a:t>
            </a:r>
          </a:p>
          <a:p>
            <a:pPr lvl="1"/>
            <a:r>
              <a:rPr lang="en-US" b="1" dirty="0"/>
              <a:t>Easy maintenance:</a:t>
            </a:r>
            <a:r>
              <a:rPr lang="en-US" dirty="0"/>
              <a:t> Adding features requires writing new files rather than refactoring legacy blocks.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521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6AB8CC-5843-D519-4F67-952C6281E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Switching Grear</a:t>
            </a:r>
          </a:p>
        </p:txBody>
      </p:sp>
    </p:spTree>
    <p:extLst>
      <p:ext uri="{BB962C8B-B14F-4D97-AF65-F5344CB8AC3E}">
        <p14:creationId xmlns:p14="http://schemas.microsoft.com/office/powerpoint/2010/main" val="2948811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9001FB-DE04-167D-53BB-9FBB359BB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Generics =&gt; A Java Language Feature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9D99A-F59E-2DD5-6206-6718A6E07F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SOLID is about software-design principles.</a:t>
            </a:r>
          </a:p>
        </p:txBody>
      </p:sp>
    </p:spTree>
    <p:extLst>
      <p:ext uri="{BB962C8B-B14F-4D97-AF65-F5344CB8AC3E}">
        <p14:creationId xmlns:p14="http://schemas.microsoft.com/office/powerpoint/2010/main" val="237418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80407-D4B2-9333-B5F1-3B02C5449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50BBD7-9DB4-CF0B-A059-3E1EAF717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865"/>
            <a:ext cx="10515600" cy="4784098"/>
          </a:xfrm>
        </p:spPr>
        <p:txBody>
          <a:bodyPr>
            <a:normAutofit/>
          </a:bodyPr>
          <a:lstStyle/>
          <a:p>
            <a:r>
              <a:rPr lang="en-US" dirty="0"/>
              <a:t>You have already seen them.</a:t>
            </a:r>
          </a:p>
          <a:p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/>
              <a:t>ArrayList</a:t>
            </a:r>
            <a:r>
              <a:rPr lang="en-US" dirty="0"/>
              <a:t>&lt;</a:t>
            </a:r>
            <a:r>
              <a:rPr lang="en-US" dirty="0">
                <a:solidFill>
                  <a:srgbClr val="7030A0"/>
                </a:solidFill>
              </a:rPr>
              <a:t>String</a:t>
            </a:r>
            <a:r>
              <a:rPr lang="en-US" dirty="0"/>
              <a:t>&gt; names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/>
              <a:t>ArrayList</a:t>
            </a:r>
            <a:r>
              <a:rPr lang="en-US" dirty="0"/>
              <a:t>&lt;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Integer</a:t>
            </a:r>
            <a:r>
              <a:rPr lang="en-US" dirty="0"/>
              <a:t>&gt; numbers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/>
              <a:t>ArrayList</a:t>
            </a:r>
            <a:r>
              <a:rPr lang="en-US" dirty="0"/>
              <a:t>&lt;</a:t>
            </a:r>
            <a:r>
              <a:rPr lang="en-US" dirty="0">
                <a:solidFill>
                  <a:srgbClr val="0070C0"/>
                </a:solidFill>
              </a:rPr>
              <a:t>Student</a:t>
            </a:r>
            <a:r>
              <a:rPr lang="en-US" dirty="0"/>
              <a:t>&gt; students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pPr lvl="2">
              <a:buFont typeface="Courier New" panose="02070309020205020404" pitchFamily="49" charset="0"/>
              <a:buChar char="o"/>
            </a:pP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/>
              <a:t>ArrayList</a:t>
            </a:r>
            <a:r>
              <a:rPr lang="en-US" dirty="0"/>
              <a:t>&lt;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Faculty</a:t>
            </a:r>
            <a:r>
              <a:rPr lang="en-US" dirty="0"/>
              <a:t>&gt; faculty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endParaRPr lang="en-US" dirty="0"/>
          </a:p>
          <a:p>
            <a:r>
              <a:rPr lang="en-US" dirty="0" err="1"/>
              <a:t>ArrayList</a:t>
            </a:r>
            <a:r>
              <a:rPr lang="en-US" dirty="0"/>
              <a:t> is a generic class. We can create an </a:t>
            </a:r>
            <a:r>
              <a:rPr lang="en-US" dirty="0" err="1"/>
              <a:t>ArrayList</a:t>
            </a:r>
            <a:r>
              <a:rPr lang="en-US" dirty="0"/>
              <a:t> for many different reference types by specifying the element type.</a:t>
            </a:r>
          </a:p>
        </p:txBody>
      </p:sp>
    </p:spTree>
    <p:extLst>
      <p:ext uri="{BB962C8B-B14F-4D97-AF65-F5344CB8AC3E}">
        <p14:creationId xmlns:p14="http://schemas.microsoft.com/office/powerpoint/2010/main" val="3738963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AEF6-6098-50FD-094E-274881352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 &gt;&gt; DRY Principle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D542C-7AAC-2A86-707B-F47E38B15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Repeat Yourself </a:t>
            </a:r>
          </a:p>
          <a:p>
            <a:r>
              <a:rPr lang="en-US" dirty="0"/>
              <a:t>“When the same concept or logic is being repeated unnecessarily, check whether it can be represented once and reused.”</a:t>
            </a:r>
          </a:p>
        </p:txBody>
      </p:sp>
    </p:spTree>
    <p:extLst>
      <p:ext uri="{BB962C8B-B14F-4D97-AF65-F5344CB8AC3E}">
        <p14:creationId xmlns:p14="http://schemas.microsoft.com/office/powerpoint/2010/main" val="425299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0DDB1-A739-D718-1EBD-282DE85B2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5F1B04-2DF7-BC59-0304-62E0A550B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First Generic Class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65BE21-E78F-C16F-6E9C-2F07971FB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ApiResponse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{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status;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message;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T data;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ApiResponse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(String status, String message, T data)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this.status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status;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this.message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message;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this.data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data;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getData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data;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C864A-2DC3-D32B-9B53-20CC71EBEEE3}"/>
              </a:ext>
            </a:extLst>
          </p:cNvPr>
          <p:cNvSpPr txBox="1"/>
          <p:nvPr/>
        </p:nvSpPr>
        <p:spPr>
          <a:xfrm>
            <a:off x="5411972" y="4104167"/>
            <a:ext cx="5592726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 is a type parameter. Think of it as a placeholder for a type that we will specify later.</a:t>
            </a:r>
          </a:p>
        </p:txBody>
      </p:sp>
    </p:spTree>
    <p:extLst>
      <p:ext uri="{BB962C8B-B14F-4D97-AF65-F5344CB8AC3E}">
        <p14:creationId xmlns:p14="http://schemas.microsoft.com/office/powerpoint/2010/main" val="2694213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B56B1-C5BC-246E-CA60-6B8C0563BCA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90832" y="556054"/>
            <a:ext cx="10972800" cy="5620909"/>
          </a:xfrm>
        </p:spPr>
        <p:txBody>
          <a:bodyPr/>
          <a:lstStyle/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ApiResponse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&lt;Student&gt; s1ApiResponse = new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ApiResponse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&lt;Student&gt;("active", "good academic standing", s1);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(s1ApiResponse.getMessage());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ApiResponse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&lt;Faculty&gt; f1ApiResponse = new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ApiResponse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&lt;Faculty&gt;("teaching", "eligible for promotion", f1);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(f1ApiResponse.getData() + " \n ==&gt; " + f1ApiResponse.getMessage());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019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66BB8-A30C-2C7F-91DE-21CEE6E3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 &amp; 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1583E-1867-2A8F-46FB-C0F932505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Don't confuse these two mechanisms. </a:t>
            </a:r>
          </a:p>
          <a:p>
            <a:endParaRPr lang="en-US" dirty="0"/>
          </a:p>
          <a:p>
            <a:r>
              <a:rPr lang="en-US" dirty="0"/>
              <a:t>Savable uses an interface and polymorphism. </a:t>
            </a:r>
          </a:p>
          <a:p>
            <a:endParaRPr lang="en-US" dirty="0"/>
          </a:p>
          <a:p>
            <a:r>
              <a:rPr lang="en-US" dirty="0" err="1"/>
              <a:t>ApiResponse</a:t>
            </a:r>
            <a:r>
              <a:rPr lang="en-US" dirty="0"/>
              <a:t>&lt;T&gt; uses Java Generics. </a:t>
            </a:r>
          </a:p>
          <a:p>
            <a:endParaRPr lang="en-US" dirty="0"/>
          </a:p>
          <a:p>
            <a:r>
              <a:rPr lang="en-US" dirty="0"/>
              <a:t>Both help us write flexible code, but they solve different kinds of problems.</a:t>
            </a:r>
          </a:p>
        </p:txBody>
      </p:sp>
    </p:spTree>
    <p:extLst>
      <p:ext uri="{BB962C8B-B14F-4D97-AF65-F5344CB8AC3E}">
        <p14:creationId xmlns:p14="http://schemas.microsoft.com/office/powerpoint/2010/main" val="2610032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9D02A-F67D-BEDB-B74E-A52CA7884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38A3B-8A54-03F4-78F3-E2F1054AA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Reading::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https://medium.com/@dheeraj.bartwal91/java-generics-explained-from-basics-to-advanced-with-real-world-examples-bff9dd5c8c51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https://docs.oracle.com/javase/tutorial/java/generics/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520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304</TotalTime>
  <Words>759</Words>
  <Application>Microsoft Macintosh PowerPoint</Application>
  <PresentationFormat>Widescreen</PresentationFormat>
  <Paragraphs>117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Corbel</vt:lpstr>
      <vt:lpstr>Courier New</vt:lpstr>
      <vt:lpstr>Office Theme</vt:lpstr>
      <vt:lpstr>SOLID Principles  &amp; Generics</vt:lpstr>
      <vt:lpstr>SOLID</vt:lpstr>
      <vt:lpstr>Single Responsibility Principle</vt:lpstr>
      <vt:lpstr>Single Responsibility Principle</vt:lpstr>
      <vt:lpstr>Current Structure of Our Design</vt:lpstr>
      <vt:lpstr>Single Responsibility does not mean single method.   It means the methods and data of a class should generally work together toward one cohesive responsibility.</vt:lpstr>
      <vt:lpstr>Open-Closed Principle (SRP)</vt:lpstr>
      <vt:lpstr>What kind of object can we save using this method? </vt:lpstr>
      <vt:lpstr>Student and saveDataToAFile are still tightly coupled. </vt:lpstr>
      <vt:lpstr>OPEN-CLOSED Principle =&gt; [after the new refactoring/adjustment]</vt:lpstr>
      <vt:lpstr>OCP =&gt; Core Concepts</vt:lpstr>
      <vt:lpstr>Switching Grear</vt:lpstr>
      <vt:lpstr>Generics =&gt; A Java Language Feature</vt:lpstr>
      <vt:lpstr>Generics </vt:lpstr>
      <vt:lpstr>Generics &gt;&gt; DRY Principle </vt:lpstr>
      <vt:lpstr>Our First Generic Class</vt:lpstr>
      <vt:lpstr>PowerPoint Presentation</vt:lpstr>
      <vt:lpstr>Polymorphism &amp; Generics</vt:lpstr>
      <vt:lpstr>Generics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Fahmida Hamid</dc:creator>
  <cp:lastModifiedBy>Fahmida Hamid</cp:lastModifiedBy>
  <cp:revision>20</cp:revision>
  <dcterms:created xsi:type="dcterms:W3CDTF">2026-09-17T02:43:39Z</dcterms:created>
  <dcterms:modified xsi:type="dcterms:W3CDTF">2026-09-17T16:30:40Z</dcterms:modified>
</cp:coreProperties>
</file>