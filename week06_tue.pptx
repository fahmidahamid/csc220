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26AB91-F844-4112-8761-7065284C5A10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E26DEF2-A188-4710-827B-9A2DBC58118A}">
      <dgm:prSet/>
      <dgm:spPr/>
      <dgm:t>
        <a:bodyPr/>
        <a:lstStyle/>
        <a:p>
          <a:r>
            <a:rPr lang="en-US"/>
            <a:t>S101 → 85</a:t>
          </a:r>
        </a:p>
      </dgm:t>
    </dgm:pt>
    <dgm:pt modelId="{3678B9DE-781E-42D6-843F-BC3292AF34B2}" type="parTrans" cxnId="{1B59B515-1C62-4B14-94B9-F6B74FF74DE8}">
      <dgm:prSet/>
      <dgm:spPr/>
      <dgm:t>
        <a:bodyPr/>
        <a:lstStyle/>
        <a:p>
          <a:endParaRPr lang="en-US"/>
        </a:p>
      </dgm:t>
    </dgm:pt>
    <dgm:pt modelId="{486BCE7C-3991-464B-8CE1-D77300B6F822}" type="sibTrans" cxnId="{1B59B515-1C62-4B14-94B9-F6B74FF74DE8}">
      <dgm:prSet/>
      <dgm:spPr/>
      <dgm:t>
        <a:bodyPr/>
        <a:lstStyle/>
        <a:p>
          <a:endParaRPr lang="en-US"/>
        </a:p>
      </dgm:t>
    </dgm:pt>
    <dgm:pt modelId="{43EEFD02-23C1-489A-A259-5E4E7B05983F}">
      <dgm:prSet/>
      <dgm:spPr/>
      <dgm:t>
        <a:bodyPr/>
        <a:lstStyle/>
        <a:p>
          <a:r>
            <a:rPr lang="en-US"/>
            <a:t>S102 → 92</a:t>
          </a:r>
        </a:p>
      </dgm:t>
    </dgm:pt>
    <dgm:pt modelId="{6E76B8F8-6679-41DB-978B-68985FF39E4E}" type="parTrans" cxnId="{06CFC400-0500-411D-AA49-4468B441FD2F}">
      <dgm:prSet/>
      <dgm:spPr/>
      <dgm:t>
        <a:bodyPr/>
        <a:lstStyle/>
        <a:p>
          <a:endParaRPr lang="en-US"/>
        </a:p>
      </dgm:t>
    </dgm:pt>
    <dgm:pt modelId="{209AF6C4-0C86-4BC1-A4B1-3D3933E3244B}" type="sibTrans" cxnId="{06CFC400-0500-411D-AA49-4468B441FD2F}">
      <dgm:prSet/>
      <dgm:spPr/>
      <dgm:t>
        <a:bodyPr/>
        <a:lstStyle/>
        <a:p>
          <a:endParaRPr lang="en-US"/>
        </a:p>
      </dgm:t>
    </dgm:pt>
    <dgm:pt modelId="{EEF4764B-067C-4B54-B613-B9D1542A33B4}">
      <dgm:prSet/>
      <dgm:spPr/>
      <dgm:t>
        <a:bodyPr/>
        <a:lstStyle/>
        <a:p>
          <a:r>
            <a:rPr lang="en-US" dirty="0"/>
            <a:t>S103 → 78</a:t>
          </a:r>
        </a:p>
      </dgm:t>
    </dgm:pt>
    <dgm:pt modelId="{82D083DF-7C43-4968-A4AD-6E08F2DEECAD}" type="parTrans" cxnId="{E4E8DE1B-7D78-4CB7-A379-244E56857E77}">
      <dgm:prSet/>
      <dgm:spPr/>
      <dgm:t>
        <a:bodyPr/>
        <a:lstStyle/>
        <a:p>
          <a:endParaRPr lang="en-US"/>
        </a:p>
      </dgm:t>
    </dgm:pt>
    <dgm:pt modelId="{43A3BB53-0E8D-4081-A4B9-31D1487A312E}" type="sibTrans" cxnId="{E4E8DE1B-7D78-4CB7-A379-244E56857E77}">
      <dgm:prSet/>
      <dgm:spPr/>
      <dgm:t>
        <a:bodyPr/>
        <a:lstStyle/>
        <a:p>
          <a:endParaRPr lang="en-US"/>
        </a:p>
      </dgm:t>
    </dgm:pt>
    <dgm:pt modelId="{9D70E784-B56F-8649-9F60-02FA13C3B806}" type="pres">
      <dgm:prSet presAssocID="{8D26AB91-F844-4112-8761-7065284C5A10}" presName="linear" presStyleCnt="0">
        <dgm:presLayoutVars>
          <dgm:animLvl val="lvl"/>
          <dgm:resizeHandles val="exact"/>
        </dgm:presLayoutVars>
      </dgm:prSet>
      <dgm:spPr/>
    </dgm:pt>
    <dgm:pt modelId="{11267EC2-C941-A54C-BAE6-7965241BC3E9}" type="pres">
      <dgm:prSet presAssocID="{4E26DEF2-A188-4710-827B-9A2DBC58118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7D235D6-D866-9C46-98F3-D7A7049F828B}" type="pres">
      <dgm:prSet presAssocID="{486BCE7C-3991-464B-8CE1-D77300B6F822}" presName="spacer" presStyleCnt="0"/>
      <dgm:spPr/>
    </dgm:pt>
    <dgm:pt modelId="{11AFDB91-9518-CC40-A4B7-C0507A3C3880}" type="pres">
      <dgm:prSet presAssocID="{43EEFD02-23C1-489A-A259-5E4E7B05983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3715EA2-AC42-4B4B-B9EA-8294D13F6F55}" type="pres">
      <dgm:prSet presAssocID="{209AF6C4-0C86-4BC1-A4B1-3D3933E3244B}" presName="spacer" presStyleCnt="0"/>
      <dgm:spPr/>
    </dgm:pt>
    <dgm:pt modelId="{0D1B7FA9-4163-0E48-8A80-1B46F02DE159}" type="pres">
      <dgm:prSet presAssocID="{EEF4764B-067C-4B54-B613-B9D1542A33B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6CFC400-0500-411D-AA49-4468B441FD2F}" srcId="{8D26AB91-F844-4112-8761-7065284C5A10}" destId="{43EEFD02-23C1-489A-A259-5E4E7B05983F}" srcOrd="1" destOrd="0" parTransId="{6E76B8F8-6679-41DB-978B-68985FF39E4E}" sibTransId="{209AF6C4-0C86-4BC1-A4B1-3D3933E3244B}"/>
    <dgm:cxn modelId="{1B59B515-1C62-4B14-94B9-F6B74FF74DE8}" srcId="{8D26AB91-F844-4112-8761-7065284C5A10}" destId="{4E26DEF2-A188-4710-827B-9A2DBC58118A}" srcOrd="0" destOrd="0" parTransId="{3678B9DE-781E-42D6-843F-BC3292AF34B2}" sibTransId="{486BCE7C-3991-464B-8CE1-D77300B6F822}"/>
    <dgm:cxn modelId="{E4E8DE1B-7D78-4CB7-A379-244E56857E77}" srcId="{8D26AB91-F844-4112-8761-7065284C5A10}" destId="{EEF4764B-067C-4B54-B613-B9D1542A33B4}" srcOrd="2" destOrd="0" parTransId="{82D083DF-7C43-4968-A4AD-6E08F2DEECAD}" sibTransId="{43A3BB53-0E8D-4081-A4B9-31D1487A312E}"/>
    <dgm:cxn modelId="{F39F0220-349C-4849-B307-483909DC5F04}" type="presOf" srcId="{43EEFD02-23C1-489A-A259-5E4E7B05983F}" destId="{11AFDB91-9518-CC40-A4B7-C0507A3C3880}" srcOrd="0" destOrd="0" presId="urn:microsoft.com/office/officeart/2005/8/layout/vList2"/>
    <dgm:cxn modelId="{78DB752A-1ED5-5D49-A1F0-1FF29AF29456}" type="presOf" srcId="{4E26DEF2-A188-4710-827B-9A2DBC58118A}" destId="{11267EC2-C941-A54C-BAE6-7965241BC3E9}" srcOrd="0" destOrd="0" presId="urn:microsoft.com/office/officeart/2005/8/layout/vList2"/>
    <dgm:cxn modelId="{040E3F4E-0763-A044-B0B3-A8A229ADFA05}" type="presOf" srcId="{EEF4764B-067C-4B54-B613-B9D1542A33B4}" destId="{0D1B7FA9-4163-0E48-8A80-1B46F02DE159}" srcOrd="0" destOrd="0" presId="urn:microsoft.com/office/officeart/2005/8/layout/vList2"/>
    <dgm:cxn modelId="{7655E1C6-CF09-DD4A-B9C6-77102BB68EFD}" type="presOf" srcId="{8D26AB91-F844-4112-8761-7065284C5A10}" destId="{9D70E784-B56F-8649-9F60-02FA13C3B806}" srcOrd="0" destOrd="0" presId="urn:microsoft.com/office/officeart/2005/8/layout/vList2"/>
    <dgm:cxn modelId="{79E297E8-3E5A-4346-AEF8-2FCA3F25AA41}" type="presParOf" srcId="{9D70E784-B56F-8649-9F60-02FA13C3B806}" destId="{11267EC2-C941-A54C-BAE6-7965241BC3E9}" srcOrd="0" destOrd="0" presId="urn:microsoft.com/office/officeart/2005/8/layout/vList2"/>
    <dgm:cxn modelId="{422B0ECE-7BD2-274A-9AFA-A0477EE87E6B}" type="presParOf" srcId="{9D70E784-B56F-8649-9F60-02FA13C3B806}" destId="{67D235D6-D866-9C46-98F3-D7A7049F828B}" srcOrd="1" destOrd="0" presId="urn:microsoft.com/office/officeart/2005/8/layout/vList2"/>
    <dgm:cxn modelId="{CD3F6CE2-5345-EF42-9089-4294E14FFFC0}" type="presParOf" srcId="{9D70E784-B56F-8649-9F60-02FA13C3B806}" destId="{11AFDB91-9518-CC40-A4B7-C0507A3C3880}" srcOrd="2" destOrd="0" presId="urn:microsoft.com/office/officeart/2005/8/layout/vList2"/>
    <dgm:cxn modelId="{3B379E94-B3A6-4442-8D5F-98C8D22D5786}" type="presParOf" srcId="{9D70E784-B56F-8649-9F60-02FA13C3B806}" destId="{73715EA2-AC42-4B4B-B9EA-8294D13F6F55}" srcOrd="3" destOrd="0" presId="urn:microsoft.com/office/officeart/2005/8/layout/vList2"/>
    <dgm:cxn modelId="{CA2DA366-7696-B443-B767-B11A9186E467}" type="presParOf" srcId="{9D70E784-B56F-8649-9F60-02FA13C3B806}" destId="{0D1B7FA9-4163-0E48-8A80-1B46F02DE1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267EC2-C941-A54C-BAE6-7965241BC3E9}">
      <dsp:nvSpPr>
        <dsp:cNvPr id="0" name=""/>
        <dsp:cNvSpPr/>
      </dsp:nvSpPr>
      <dsp:spPr>
        <a:xfrm>
          <a:off x="0" y="26046"/>
          <a:ext cx="5034637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S101 → 85</a:t>
          </a:r>
        </a:p>
      </dsp:txBody>
      <dsp:txXfrm>
        <a:off x="40780" y="66826"/>
        <a:ext cx="4953077" cy="753820"/>
      </dsp:txXfrm>
    </dsp:sp>
    <dsp:sp modelId="{11AFDB91-9518-CC40-A4B7-C0507A3C3880}">
      <dsp:nvSpPr>
        <dsp:cNvPr id="0" name=""/>
        <dsp:cNvSpPr/>
      </dsp:nvSpPr>
      <dsp:spPr>
        <a:xfrm>
          <a:off x="0" y="959347"/>
          <a:ext cx="5034637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S102 → 92</a:t>
          </a:r>
        </a:p>
      </dsp:txBody>
      <dsp:txXfrm>
        <a:off x="40780" y="1000127"/>
        <a:ext cx="4953077" cy="753820"/>
      </dsp:txXfrm>
    </dsp:sp>
    <dsp:sp modelId="{0D1B7FA9-4163-0E48-8A80-1B46F02DE159}">
      <dsp:nvSpPr>
        <dsp:cNvPr id="0" name=""/>
        <dsp:cNvSpPr/>
      </dsp:nvSpPr>
      <dsp:spPr>
        <a:xfrm>
          <a:off x="0" y="1892647"/>
          <a:ext cx="5034637" cy="8353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S103 → 78</a:t>
          </a:r>
        </a:p>
      </dsp:txBody>
      <dsp:txXfrm>
        <a:off x="40780" y="1933427"/>
        <a:ext cx="4953077" cy="7538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731407"/>
            <a:ext cx="6480450" cy="3038878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315" y="5264528"/>
            <a:ext cx="6577526" cy="1001354"/>
          </a:xfrm>
        </p:spPr>
        <p:txBody>
          <a:bodyPr anchor="ctr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80" y="6426091"/>
            <a:ext cx="43575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32188" y="6426091"/>
            <a:ext cx="1431447" cy="365125"/>
          </a:xfrm>
        </p:spPr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82685" y="6426091"/>
            <a:ext cx="603114" cy="365125"/>
          </a:xfrm>
        </p:spPr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0"/>
            <a:ext cx="4571999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22CE8C-DC47-AF8A-A37E-C04D364B8D63}"/>
              </a:ext>
            </a:extLst>
          </p:cNvPr>
          <p:cNvCxnSpPr>
            <a:cxnSpLocks/>
          </p:cNvCxnSpPr>
          <p:nvPr/>
        </p:nvCxnSpPr>
        <p:spPr>
          <a:xfrm>
            <a:off x="533400" y="6324773"/>
            <a:ext cx="648045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35A6ADE-4FF0-6E84-4D25-A3E7A481303D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646050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B306735-74E7-C788-FB5F-7BC551ED5CDD}"/>
              </a:ext>
            </a:extLst>
          </p:cNvPr>
          <p:cNvCxnSpPr>
            <a:cxnSpLocks/>
          </p:cNvCxnSpPr>
          <p:nvPr/>
        </p:nvCxnSpPr>
        <p:spPr>
          <a:xfrm>
            <a:off x="533400" y="512722"/>
            <a:ext cx="6456409" cy="0"/>
          </a:xfrm>
          <a:prstGeom prst="line">
            <a:avLst/>
          </a:prstGeom>
          <a:ln w="476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586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679" y="332308"/>
            <a:ext cx="11253667" cy="90992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336" y="1488931"/>
            <a:ext cx="11253668" cy="4700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429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1F847F0-1D67-5F49-6571-5F248F11275B}"/>
              </a:ext>
            </a:extLst>
          </p:cNvPr>
          <p:cNvCxnSpPr>
            <a:cxnSpLocks/>
          </p:cNvCxnSpPr>
          <p:nvPr/>
        </p:nvCxnSpPr>
        <p:spPr>
          <a:xfrm>
            <a:off x="8173214" y="530425"/>
            <a:ext cx="3485386" cy="0"/>
          </a:xfrm>
          <a:prstGeom prst="line">
            <a:avLst/>
          </a:prstGeom>
          <a:ln w="412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280C4FA-D5DF-A52F-5EBC-E1A231F643A5}"/>
              </a:ext>
            </a:extLst>
          </p:cNvPr>
          <p:cNvCxnSpPr>
            <a:cxnSpLocks/>
          </p:cNvCxnSpPr>
          <p:nvPr/>
        </p:nvCxnSpPr>
        <p:spPr>
          <a:xfrm>
            <a:off x="8173214" y="5498461"/>
            <a:ext cx="3485386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968" y="768351"/>
            <a:ext cx="3685656" cy="2843527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D3F2A15-2C96-2533-3F11-3EFA30B567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605681" cy="68580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79075-DF30-526B-9548-3F9D7EF9F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73978" y="5681133"/>
            <a:ext cx="3655646" cy="664191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2571521-DF5C-DF9C-1A62-5F1513FC61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8073978" y="6426091"/>
            <a:ext cx="229505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135B836-FBFB-89F8-B972-11036B55F5C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98013" y="6426091"/>
            <a:ext cx="875825" cy="365125"/>
          </a:xfrm>
        </p:spPr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0AD8387-A9F9-E9E2-1138-08C0AA4957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61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336" y="765750"/>
            <a:ext cx="9635668" cy="34551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428" y="5271844"/>
            <a:ext cx="9613065" cy="10013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CDCB79-1025-8102-1BC6-378AB173CBFF}"/>
              </a:ext>
            </a:extLst>
          </p:cNvPr>
          <p:cNvCxnSpPr>
            <a:cxnSpLocks/>
          </p:cNvCxnSpPr>
          <p:nvPr/>
        </p:nvCxnSpPr>
        <p:spPr>
          <a:xfrm>
            <a:off x="533400" y="5184424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F23CAD-F5FD-3FB3-B413-1F54592B07E7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47045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997" y="3018408"/>
            <a:ext cx="8961120" cy="3247475"/>
          </a:xfrm>
        </p:spPr>
        <p:txBody>
          <a:bodyPr anchor="b">
            <a:normAutofit/>
          </a:bodyPr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FD05DD5-DCB7-49C7-5E41-2DBD8B73D6D2}"/>
              </a:ext>
            </a:extLst>
          </p:cNvPr>
          <p:cNvCxnSpPr>
            <a:cxnSpLocks/>
          </p:cNvCxnSpPr>
          <p:nvPr/>
        </p:nvCxnSpPr>
        <p:spPr>
          <a:xfrm>
            <a:off x="530646" y="531958"/>
            <a:ext cx="11127954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9FDA663-314D-CA26-DF41-CB3FDC0733F0}"/>
              </a:ext>
            </a:extLst>
          </p:cNvPr>
          <p:cNvCxnSpPr>
            <a:cxnSpLocks/>
          </p:cNvCxnSpPr>
          <p:nvPr/>
        </p:nvCxnSpPr>
        <p:spPr>
          <a:xfrm>
            <a:off x="533400" y="6324600"/>
            <a:ext cx="111252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9164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2851"/>
            <a:ext cx="7525512" cy="1882595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856" y="2502245"/>
            <a:ext cx="7492991" cy="3669956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55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E6481B7-DF51-286F-B976-0777FDDAC524}"/>
              </a:ext>
            </a:extLst>
          </p:cNvPr>
          <p:cNvCxnSpPr>
            <a:cxnSpLocks/>
          </p:cNvCxnSpPr>
          <p:nvPr/>
        </p:nvCxnSpPr>
        <p:spPr>
          <a:xfrm>
            <a:off x="530352" y="2670800"/>
            <a:ext cx="6402856" cy="0"/>
          </a:xfrm>
          <a:prstGeom prst="line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2764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60" y="1399734"/>
            <a:ext cx="4136461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80" y="1398419"/>
            <a:ext cx="625002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2906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7139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400" y="435785"/>
            <a:ext cx="4268573" cy="291875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452" y="743106"/>
            <a:ext cx="6277070" cy="531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9F873DB-8FEF-C24C-ECA0-EABFFF560476}"/>
              </a:ext>
            </a:extLst>
          </p:cNvPr>
          <p:cNvCxnSpPr>
            <a:cxnSpLocks/>
          </p:cNvCxnSpPr>
          <p:nvPr/>
        </p:nvCxnSpPr>
        <p:spPr>
          <a:xfrm>
            <a:off x="5486400" y="528489"/>
            <a:ext cx="6172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918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3867" y="691867"/>
            <a:ext cx="5664732" cy="12126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Picture Placeholder 8">
            <a:extLst>
              <a:ext uri="{FF2B5EF4-FFF2-40B4-BE49-F238E27FC236}">
                <a16:creationId xmlns:a16="http://schemas.microsoft.com/office/drawing/2014/main" id="{38FD2E6A-E1F7-36FC-E50F-AD4CE76910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1" y="533400"/>
            <a:ext cx="4953000" cy="5811928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3865" y="2007652"/>
            <a:ext cx="5664732" cy="43153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6058518" y="530352"/>
            <a:ext cx="56000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882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7971" y="691866"/>
            <a:ext cx="6680630" cy="12173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3886200" cy="581192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7971" y="2010699"/>
            <a:ext cx="6680630" cy="43139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84096" y="533400"/>
            <a:ext cx="668063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710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559" y="691867"/>
            <a:ext cx="6664559" cy="1217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217" y="2010699"/>
            <a:ext cx="6661902" cy="4330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7BA63699-2EA2-4B8B-E296-BEF5937412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20000" y="533400"/>
            <a:ext cx="4038600" cy="5791200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00" y="6426091"/>
            <a:ext cx="3553839" cy="365125"/>
          </a:xfrm>
        </p:spPr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3F4131-F439-B360-2C50-DC4ED02C5AF2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65677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59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376" y="691868"/>
            <a:ext cx="4577602" cy="14392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76" y="2211185"/>
            <a:ext cx="4577602" cy="3954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7807F9F-79B5-ED92-41CC-A1D1A8D03E3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486400" y="533399"/>
            <a:ext cx="6172200" cy="579120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516418" y="530352"/>
            <a:ext cx="4436582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302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8555" y="512011"/>
            <a:ext cx="6792069" cy="125992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9A161C3-930A-50CE-D3B8-C1429E6F24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399"/>
            <a:ext cx="3886200" cy="5791201"/>
          </a:xfr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1371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8555" y="2148840"/>
            <a:ext cx="6792069" cy="4162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9C51D6-8120-DE83-0A77-B4C479640664}"/>
              </a:ext>
            </a:extLst>
          </p:cNvPr>
          <p:cNvCxnSpPr>
            <a:cxnSpLocks/>
          </p:cNvCxnSpPr>
          <p:nvPr/>
        </p:nvCxnSpPr>
        <p:spPr>
          <a:xfrm>
            <a:off x="4953000" y="1892587"/>
            <a:ext cx="67056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2294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935" y="691867"/>
            <a:ext cx="3052570" cy="20116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6BC46AA6-BED0-04C6-38E0-12160144CC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399" y="533400"/>
            <a:ext cx="7667626" cy="5788757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1935" y="2889848"/>
            <a:ext cx="3052570" cy="3434752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C6323EE-3C7E-2716-8BD0-C89545F04FC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F01E841F-9F6D-0E74-84D5-4BA2AF78F5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CE2DCFD-EFAB-71DF-776D-014822C0AB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CFBB608-C785-A34D-1B6D-96361A676495}"/>
              </a:ext>
            </a:extLst>
          </p:cNvPr>
          <p:cNvCxnSpPr>
            <a:cxnSpLocks/>
          </p:cNvCxnSpPr>
          <p:nvPr/>
        </p:nvCxnSpPr>
        <p:spPr>
          <a:xfrm>
            <a:off x="8727541" y="533400"/>
            <a:ext cx="293106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885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399" y="4829695"/>
            <a:ext cx="4289051" cy="14131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3400"/>
            <a:ext cx="11125200" cy="4013885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77800" dir="14400000" sx="98000" sy="98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428905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779" y="4829695"/>
            <a:ext cx="6554822" cy="152954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40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55" y="691867"/>
            <a:ext cx="4067721" cy="15595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1FFBA57-7EFE-2CC4-EE45-5F1F633C1A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2521819"/>
            <a:ext cx="3886200" cy="3802781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0685" y="694944"/>
            <a:ext cx="6705600" cy="56296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4857" y="6426091"/>
            <a:ext cx="39847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295957"/>
            <a:ext cx="4000501" cy="18895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C4C6F3D6-B9C8-D66A-B29A-CE5D5FBDE5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400" y="531891"/>
            <a:ext cx="3886202" cy="3603594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190500" dir="144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3001" y="694944"/>
            <a:ext cx="6705599" cy="5506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354F31B-6E0C-9ACF-A3B4-2BE5DD2D21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D4992A1-A620-24C8-73C6-0C53DD6F386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2384E85-ACDE-270D-7478-1B88F47F14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4AB0D3-0312-25C6-7159-3EBA07E82C60}"/>
              </a:ext>
            </a:extLst>
          </p:cNvPr>
          <p:cNvCxnSpPr>
            <a:cxnSpLocks/>
          </p:cNvCxnSpPr>
          <p:nvPr/>
        </p:nvCxnSpPr>
        <p:spPr>
          <a:xfrm>
            <a:off x="4953001" y="531891"/>
            <a:ext cx="6705599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4E4891-5C32-2FDE-C242-EDBA3B5D1AC4}"/>
              </a:ext>
            </a:extLst>
          </p:cNvPr>
          <p:cNvCxnSpPr>
            <a:cxnSpLocks/>
          </p:cNvCxnSpPr>
          <p:nvPr/>
        </p:nvCxnSpPr>
        <p:spPr>
          <a:xfrm>
            <a:off x="533399" y="6324600"/>
            <a:ext cx="1112520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455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2889" y="5074607"/>
            <a:ext cx="11166223" cy="1068234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16419" y="495833"/>
            <a:ext cx="11159163" cy="424599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32000" cap="none" baseline="0">
                <a:solidFill>
                  <a:schemeClr val="accent1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2400" cap="none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2000" cap="none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1800" cap="none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1600" cap="none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FADD3D14-222C-BA8A-E4C0-8637820CBAB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FEF00E3-D3E5-F5AF-F035-66A1547A06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7222D35-3F63-3753-6F10-57879AFE3C5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6998540-FFAB-625C-C2E6-DC04B074A2C4}"/>
              </a:ext>
            </a:extLst>
          </p:cNvPr>
          <p:cNvCxnSpPr>
            <a:cxnSpLocks/>
          </p:cNvCxnSpPr>
          <p:nvPr/>
        </p:nvCxnSpPr>
        <p:spPr>
          <a:xfrm>
            <a:off x="530352" y="483966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E9B0A1-4C47-68AF-0383-4819E2242D4E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95607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1480" y="722376"/>
            <a:ext cx="10762488" cy="54589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90000"/>
              </a:lnSpc>
              <a:buNone/>
              <a:defRPr lang="en-US" sz="7200" cap="all" baseline="0" dirty="0">
                <a:latin typeface="+mj-lt"/>
              </a:defRPr>
            </a:lvl1pPr>
            <a:lvl2pPr marL="457200" indent="0">
              <a:lnSpc>
                <a:spcPct val="90000"/>
              </a:lnSpc>
              <a:buNone/>
              <a:defRPr lang="en-US" sz="6600" cap="all" baseline="0" dirty="0">
                <a:latin typeface="+mj-lt"/>
              </a:defRPr>
            </a:lvl2pPr>
            <a:lvl3pPr marL="9144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3pPr>
            <a:lvl4pPr marL="13716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4pPr>
            <a:lvl5pPr marL="1828800" indent="0">
              <a:lnSpc>
                <a:spcPct val="90000"/>
              </a:lnSpc>
              <a:buNone/>
              <a:defRPr lang="en-US" sz="6000" cap="all" baseline="0" dirty="0"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B05AAB-D167-637A-451A-510AF3173A7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28B3CFC-5715-1685-A039-A3162E1A6D0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256ABD-1750-68C8-B3DD-DDDA3342C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C0A4E9-267E-8FCC-AB27-70F0E33E2D79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A1B5A9-A34C-A393-09C0-174C561F5FBF}"/>
              </a:ext>
            </a:extLst>
          </p:cNvPr>
          <p:cNvCxnSpPr>
            <a:cxnSpLocks/>
          </p:cNvCxnSpPr>
          <p:nvPr/>
        </p:nvCxnSpPr>
        <p:spPr>
          <a:xfrm>
            <a:off x="530352" y="6324600"/>
            <a:ext cx="11128248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6493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9764" y="5486400"/>
            <a:ext cx="9472473" cy="939691"/>
          </a:xfrm>
        </p:spPr>
        <p:txBody>
          <a:bodyPr anchor="ctr">
            <a:normAutofit/>
          </a:bodyPr>
          <a:lstStyle>
            <a:lvl1pPr marL="137160" indent="-137160" algn="ctr">
              <a:lnSpc>
                <a:spcPct val="100000"/>
              </a:lnSpc>
              <a:defRPr sz="1800" cap="all" baseline="0">
                <a:latin typeface="+mj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59761" y="667511"/>
            <a:ext cx="9413534" cy="4010998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400" b="0" cap="none" spc="50" baseline="0">
                <a:solidFill>
                  <a:schemeClr val="accent1"/>
                </a:solidFill>
                <a:latin typeface="+mn-lt"/>
              </a:defRPr>
            </a:lvl1pPr>
            <a:lvl2pPr marL="228600" indent="0" algn="ctr">
              <a:lnSpc>
                <a:spcPct val="100000"/>
              </a:lnSpc>
              <a:buNone/>
              <a:defRPr sz="4000" b="0" cap="none" spc="50" baseline="0">
                <a:solidFill>
                  <a:schemeClr val="accent1"/>
                </a:solidFill>
                <a:latin typeface="+mn-lt"/>
              </a:defRPr>
            </a:lvl2pPr>
            <a:lvl3pPr marL="457200" indent="0" algn="ctr">
              <a:lnSpc>
                <a:spcPct val="100000"/>
              </a:lnSpc>
              <a:buNone/>
              <a:defRPr sz="3600" b="0" cap="none" spc="50" baseline="0">
                <a:solidFill>
                  <a:schemeClr val="accent1"/>
                </a:solidFill>
                <a:latin typeface="+mn-lt"/>
              </a:defRPr>
            </a:lvl3pPr>
            <a:lvl4pPr marL="685800" indent="0" algn="ctr">
              <a:lnSpc>
                <a:spcPct val="100000"/>
              </a:lnSpc>
              <a:buNone/>
              <a:defRPr sz="3200" b="0" cap="none" spc="50" baseline="0">
                <a:solidFill>
                  <a:schemeClr val="accent1"/>
                </a:solidFill>
                <a:latin typeface="+mn-lt"/>
              </a:defRPr>
            </a:lvl4pPr>
            <a:lvl5pPr marL="914400" indent="0" algn="ctr">
              <a:lnSpc>
                <a:spcPct val="100000"/>
              </a:lnSpc>
              <a:buNone/>
              <a:defRPr sz="2800" b="0" cap="none" spc="50" baseline="0">
                <a:solidFill>
                  <a:schemeClr val="accent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8922A5-1A25-C2CB-DB6C-A2CCA7E6E68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AB04756-BB80-4C64-D871-0ADC3A7778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F70E65-4C3D-A600-1367-6FBA2FDDE5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95B307-0002-4F55-5801-73F564B37804}"/>
              </a:ext>
            </a:extLst>
          </p:cNvPr>
          <p:cNvCxnSpPr>
            <a:cxnSpLocks/>
          </p:cNvCxnSpPr>
          <p:nvPr/>
        </p:nvCxnSpPr>
        <p:spPr>
          <a:xfrm>
            <a:off x="1399690" y="5178692"/>
            <a:ext cx="9386681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985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B8DBCC-227D-BB0A-7CD5-02D66CF187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B7E01-A7E6-1882-4E9B-8EABAF71F96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3400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329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5" y="365760"/>
            <a:ext cx="11256264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48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FD932-A581-1A49-7FAF-0FED2E2BC18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2212975"/>
            <a:ext cx="530383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1490472"/>
            <a:ext cx="5321808" cy="64290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54404BD-8F2F-278E-C00B-3F1B1DE8CF2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238" y="2212975"/>
            <a:ext cx="5321808" cy="3892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0608C5-C55C-14AC-C8E9-7F0530018CE5}"/>
              </a:ext>
            </a:extLst>
          </p:cNvPr>
          <p:cNvCxnSpPr>
            <a:cxnSpLocks/>
          </p:cNvCxnSpPr>
          <p:nvPr/>
        </p:nvCxnSpPr>
        <p:spPr>
          <a:xfrm>
            <a:off x="530352" y="1357303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25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695F-5E74-A380-8592-35FB6FC77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C6149D-58D4-7497-818C-CF30244A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8D2567-C532-BD45-FA85-03DBE3B3C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0E491-56EB-F527-8A63-FBEEE619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750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mpt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9D82C-4607-0C9D-F241-D35DBEFEF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DCFCC5-7F8E-F549-57BA-7303E9F17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7BEB6A-C028-DA7D-C516-2F1316F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415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541942"/>
            <a:ext cx="11256264" cy="2225185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3423301"/>
            <a:ext cx="11239499" cy="290129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457200" indent="0">
              <a:buNone/>
              <a:defRPr lang="en-US" dirty="0"/>
            </a:lvl2pPr>
            <a:lvl3pPr marL="914400" indent="0">
              <a:buNone/>
              <a:defRPr lang="en-US" dirty="0"/>
            </a:lvl3pPr>
            <a:lvl4pPr marL="1371600" indent="0">
              <a:buNone/>
              <a:defRPr lang="en-US" dirty="0"/>
            </a:lvl4pPr>
            <a:lvl5pPr marL="18288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FD55B63-1406-DAD2-DBAB-BD87EA2FB540}"/>
              </a:ext>
            </a:extLst>
          </p:cNvPr>
          <p:cNvCxnSpPr>
            <a:cxnSpLocks/>
          </p:cNvCxnSpPr>
          <p:nvPr/>
        </p:nvCxnSpPr>
        <p:spPr>
          <a:xfrm>
            <a:off x="533400" y="2978854"/>
            <a:ext cx="11159163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502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1836238"/>
            <a:ext cx="11256264" cy="2512732"/>
          </a:xfrm>
        </p:spPr>
        <p:txBody>
          <a:bodyPr anchor="b">
            <a:normAutofit/>
          </a:bodyPr>
          <a:lstStyle>
            <a:lvl1pPr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099" y="4834052"/>
            <a:ext cx="11239499" cy="140547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2000" dirty="0"/>
            </a:lvl1pPr>
            <a:lvl2pPr marL="457200" indent="0">
              <a:buNone/>
              <a:defRPr lang="en-US" sz="1800" dirty="0"/>
            </a:lvl2pPr>
            <a:lvl3pPr marL="914400" indent="0">
              <a:buNone/>
              <a:defRPr lang="en-US" sz="1600" dirty="0"/>
            </a:lvl3pPr>
            <a:lvl4pPr marL="1371600" indent="0">
              <a:buNone/>
              <a:defRPr lang="en-US" sz="1400" dirty="0"/>
            </a:lvl4pPr>
            <a:lvl5pPr marL="18288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899B98-11E6-7DB0-F79E-50A541026355}"/>
              </a:ext>
            </a:extLst>
          </p:cNvPr>
          <p:cNvCxnSpPr>
            <a:cxnSpLocks/>
          </p:cNvCxnSpPr>
          <p:nvPr/>
        </p:nvCxnSpPr>
        <p:spPr>
          <a:xfrm>
            <a:off x="533400" y="4531625"/>
            <a:ext cx="11125198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2502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DE846-1968-1211-EB00-8FAC48ACF6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AE58D-8B7C-054D-FAA2-71F3C1EC56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9F2DF1-40A2-9975-A0DE-1A1363DAF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469003-9578-5052-A770-1155EBA88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794E1-B8E8-F5B2-E3DD-AE9385BC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49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8916C8C-4316-E510-1962-E944B3382B43}"/>
              </a:ext>
            </a:extLst>
          </p:cNvPr>
          <p:cNvCxnSpPr>
            <a:cxnSpLocks/>
          </p:cNvCxnSpPr>
          <p:nvPr/>
        </p:nvCxnSpPr>
        <p:spPr>
          <a:xfrm>
            <a:off x="530352" y="533400"/>
            <a:ext cx="11125200" cy="0"/>
          </a:xfrm>
          <a:prstGeom prst="line">
            <a:avLst/>
          </a:prstGeom>
          <a:ln w="9525">
            <a:solidFill>
              <a:schemeClr val="tx1">
                <a:alpha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83" y="691868"/>
            <a:ext cx="11243617" cy="9011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640" y="1754753"/>
            <a:ext cx="11240960" cy="44113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4857" y="6426091"/>
            <a:ext cx="46887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46205" y="6426091"/>
            <a:ext cx="332763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B851DC49-5ED9-2B4A-A286-8CBC5AC83FAC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6187" y="6426091"/>
            <a:ext cx="603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alpha val="60000"/>
                  </a:schemeClr>
                </a:solidFill>
              </a:defRPr>
            </a:lvl1pPr>
          </a:lstStyle>
          <a:p>
            <a:fld id="{DA50F988-8B11-2D4F-B3DB-15C9877194B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1E8D67-00CA-7CDE-66AF-4E6E2CA0045D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377573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84">
          <p15:clr>
            <a:srgbClr val="F26B43"/>
          </p15:clr>
        </p15:guide>
        <p15:guide id="2" pos="4128">
          <p15:clr>
            <a:srgbClr val="F26B43"/>
          </p15:clr>
        </p15:guide>
        <p15:guide id="3" pos="3456">
          <p15:clr>
            <a:srgbClr val="F26B43"/>
          </p15:clr>
        </p15:guide>
        <p15:guide id="4" pos="27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orient="horz" pos="336">
          <p15:clr>
            <a:srgbClr val="F26B43"/>
          </p15:clr>
        </p15:guide>
        <p15:guide id="8" pos="264">
          <p15:clr>
            <a:srgbClr val="F26B43"/>
          </p15:clr>
        </p15:guide>
        <p15:guide id="9" pos="4800">
          <p15:clr>
            <a:srgbClr val="F26B43"/>
          </p15:clr>
        </p15:guide>
        <p15:guide id="10" pos="2112">
          <p15:clr>
            <a:srgbClr val="F26B43"/>
          </p15:clr>
        </p15:guide>
        <p15:guide id="11" pos="547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javase/8/docs/api/java/util/HashMap.html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56EFE-69F2-1F69-346D-88A940B425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CSC 220</a:t>
            </a:r>
            <a:br>
              <a:rPr lang="en-US" dirty="0"/>
            </a:br>
            <a:r>
              <a:rPr lang="en-US" dirty="0"/>
              <a:t>maps and hash maps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EDCE7-2794-9C7A-D799-2709DF4848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Fahmida Hamid</a:t>
            </a:r>
          </a:p>
        </p:txBody>
      </p:sp>
    </p:spTree>
    <p:extLst>
      <p:ext uri="{BB962C8B-B14F-4D97-AF65-F5344CB8AC3E}">
        <p14:creationId xmlns:p14="http://schemas.microsoft.com/office/powerpoint/2010/main" val="2161208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63F2CB4-1981-8DBF-06AE-26451A808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anchor="b">
            <a:normAutofit/>
          </a:bodyPr>
          <a:lstStyle/>
          <a:p>
            <a:r>
              <a:rPr lang="en-US" dirty="0"/>
              <a:t>Case 01: Student Records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D33E2257-40BF-46C4-B6B5-515DA918E7F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45936" y="1719072"/>
            <a:ext cx="5321808" cy="439054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sz="3200" dirty="0"/>
              <a:t>How do we store the data?</a:t>
            </a:r>
          </a:p>
          <a:p>
            <a:r>
              <a:rPr lang="en-US" sz="3200" dirty="0"/>
              <a:t>Lists?</a:t>
            </a:r>
          </a:p>
          <a:p>
            <a:pPr lvl="1"/>
            <a:r>
              <a:rPr lang="en-US" sz="3200" dirty="0">
                <a:solidFill>
                  <a:schemeClr val="bg2">
                    <a:lumMod val="75000"/>
                  </a:schemeClr>
                </a:solidFill>
              </a:rPr>
              <a:t>Any disadvantages?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5C249B9-2B41-4CDD-B875-3C30FBE8978F}"/>
              </a:ext>
            </a:extLst>
          </p:cNvPr>
          <p:cNvGraphicFramePr>
            <a:graphicFrameLocks noGrp="1"/>
          </p:cNvGraphicFramePr>
          <p:nvPr>
            <p:ph sz="quarter" idx="15"/>
            <p:extLst>
              <p:ext uri="{D42A27DB-BD31-4B8C-83A1-F6EECF244321}">
                <p14:modId xmlns:p14="http://schemas.microsoft.com/office/powerpoint/2010/main" val="4251186093"/>
              </p:ext>
            </p:extLst>
          </p:nvPr>
        </p:nvGraphicFramePr>
        <p:xfrm>
          <a:off x="957686" y="2065179"/>
          <a:ext cx="4228254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6510">
                  <a:extLst>
                    <a:ext uri="{9D8B030D-6E8A-4147-A177-3AD203B41FA5}">
                      <a16:colId xmlns:a16="http://schemas.microsoft.com/office/drawing/2014/main" val="1275250390"/>
                    </a:ext>
                  </a:extLst>
                </a:gridCol>
                <a:gridCol w="1671744">
                  <a:extLst>
                    <a:ext uri="{9D8B030D-6E8A-4147-A177-3AD203B41FA5}">
                      <a16:colId xmlns:a16="http://schemas.microsoft.com/office/drawing/2014/main" val="1577149107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Student ID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Score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47185306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S101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85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758630759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S102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92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21031723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S103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78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94029737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S104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92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570735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547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F966-B71F-227C-7938-DC24C5DFC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467D9-E447-C6F5-1136-3CE0D5649AA2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university course registration system</a:t>
            </a:r>
            <a:r>
              <a:rPr lang="en-US" dirty="0"/>
              <a:t> with millions of enrollment records across many years.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1D73C-D3AD-4614-3F08-0FA52D74D52A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The internet with millions of pages and growing…</a:t>
            </a:r>
          </a:p>
        </p:txBody>
      </p:sp>
    </p:spTree>
    <p:extLst>
      <p:ext uri="{BB962C8B-B14F-4D97-AF65-F5344CB8AC3E}">
        <p14:creationId xmlns:p14="http://schemas.microsoft.com/office/powerpoint/2010/main" val="3465342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B94594-F652-1ECA-C5E9-109B7003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760"/>
            <a:ext cx="11239498" cy="9144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 cap="all" baseline="0">
                <a:latin typeface="+mj-lt"/>
                <a:ea typeface="+mj-ea"/>
                <a:cs typeface="+mj-cs"/>
              </a:rPr>
              <a:t>Map: the abstract idea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7FF7EF-20BC-5C14-BF18-84332546278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9100" y="1714500"/>
            <a:ext cx="5305425" cy="438943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2500" dirty="0"/>
              <a:t>A </a:t>
            </a:r>
            <a:r>
              <a:rPr lang="en-US" sz="2500" b="1" dirty="0"/>
              <a:t>Map</a:t>
            </a:r>
            <a:r>
              <a:rPr lang="en-US" sz="2500" dirty="0"/>
              <a:t> is a conceptual blueprint for storing data. </a:t>
            </a:r>
          </a:p>
          <a:p>
            <a:pPr lvl="1">
              <a:lnSpc>
                <a:spcPct val="110000"/>
              </a:lnSpc>
            </a:pPr>
            <a:endParaRPr lang="en-US" sz="2500" dirty="0"/>
          </a:p>
          <a:p>
            <a:pPr lvl="1">
              <a:lnSpc>
                <a:spcPct val="110000"/>
              </a:lnSpc>
            </a:pPr>
            <a:r>
              <a:rPr lang="en-US" sz="2500" dirty="0"/>
              <a:t>It is a collection of </a:t>
            </a:r>
            <a:r>
              <a:rPr lang="en-US" sz="2500" b="1" dirty="0"/>
              <a:t>key-value pairs</a:t>
            </a:r>
            <a:r>
              <a:rPr lang="en-US" sz="2500" dirty="0"/>
              <a:t>, where every unique key links to a specific piece of information.</a:t>
            </a:r>
          </a:p>
          <a:p>
            <a:pPr lvl="1">
              <a:lnSpc>
                <a:spcPct val="110000"/>
              </a:lnSpc>
            </a:pPr>
            <a:endParaRPr lang="en-US" sz="2500" dirty="0"/>
          </a:p>
          <a:p>
            <a:pPr marL="0" indent="0">
              <a:lnSpc>
                <a:spcPct val="110000"/>
              </a:lnSpc>
              <a:buNone/>
            </a:pPr>
            <a:endParaRPr lang="en-US" sz="2500" dirty="0"/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12B61C95-A961-DA92-579F-024343155A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183824"/>
              </p:ext>
            </p:extLst>
          </p:nvPr>
        </p:nvGraphicFramePr>
        <p:xfrm>
          <a:off x="6467477" y="2423408"/>
          <a:ext cx="5034637" cy="2754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0380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B42E-19D7-D9A3-7361-55DE40D3B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Map: the abstract idea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E070-7C22-1685-25F5-7412F9179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map</a:t>
            </a:r>
            <a:r>
              <a:rPr lang="en-US" dirty="0"/>
              <a:t> directly associates each key with a value and </a:t>
            </a:r>
          </a:p>
          <a:p>
            <a:r>
              <a:rPr lang="en-US" dirty="0"/>
              <a:t>typically lets us look up a value in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constant time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3131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1BCA4-2030-037A-8108-9695D40F09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US" sz="5400" dirty="0"/>
            </a:br>
            <a:r>
              <a:rPr lang="en-US" sz="5400" dirty="0" err="1"/>
              <a:t>Hashmap</a:t>
            </a:r>
            <a:r>
              <a:rPr lang="en-US" sz="5400" dirty="0"/>
              <a:t> </a:t>
            </a:r>
            <a:br>
              <a:rPr lang="en-US" sz="5400"/>
            </a:br>
            <a:br>
              <a:rPr lang="en-US" sz="5400"/>
            </a:br>
            <a:r>
              <a:rPr lang="en-US" sz="4800">
                <a:solidFill>
                  <a:srgbClr val="0070C0"/>
                </a:solidFill>
              </a:rPr>
              <a:t>A </a:t>
            </a:r>
            <a:r>
              <a:rPr lang="en-US" sz="4800" dirty="0">
                <a:solidFill>
                  <a:srgbClr val="0070C0"/>
                </a:solidFill>
              </a:rPr>
              <a:t>specific, high-performance implementation of map</a:t>
            </a:r>
          </a:p>
        </p:txBody>
      </p:sp>
    </p:spTree>
    <p:extLst>
      <p:ext uri="{BB962C8B-B14F-4D97-AF65-F5344CB8AC3E}">
        <p14:creationId xmlns:p14="http://schemas.microsoft.com/office/powerpoint/2010/main" val="1419825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C75C1-2CB1-694F-BB30-A87AAD079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&amp; </a:t>
            </a:r>
            <a:r>
              <a:rPr lang="en-US" dirty="0" err="1"/>
              <a:t>hashmap</a:t>
            </a:r>
            <a:r>
              <a:rPr lang="en-US" dirty="0"/>
              <a:t>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DC2BE-2138-80BB-1192-85F3FF93C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Map is an </a:t>
            </a:r>
            <a:r>
              <a:rPr lang="en-US" b="1" dirty="0"/>
              <a:t>interface</a:t>
            </a:r>
            <a:r>
              <a:rPr lang="en-US" dirty="0"/>
              <a:t>: it specifies operations such as </a:t>
            </a:r>
            <a:r>
              <a:rPr lang="en-US" b="1" dirty="0"/>
              <a:t>put </a:t>
            </a:r>
            <a:r>
              <a:rPr lang="en-US" dirty="0"/>
              <a:t>and </a:t>
            </a:r>
            <a:r>
              <a:rPr lang="en-US" b="1" dirty="0"/>
              <a:t>get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HashMap is a class that implements those operations. </a:t>
            </a:r>
          </a:p>
          <a:p>
            <a:pPr lvl="1"/>
            <a:r>
              <a:rPr lang="en-US" dirty="0">
                <a:hlinkClick r:id="rId2"/>
              </a:rPr>
              <a:t>https://docs.oracle.com/javase/8/docs/api/java/util/HashMap.html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918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569F4-966B-BAA7-29B0-20D3AACA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12536-1D70-CD10-CB96-E7775F1E4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What does Hash mean?</a:t>
            </a:r>
          </a:p>
          <a:p>
            <a:pPr lvl="1"/>
            <a:r>
              <a:rPr lang="en-US" dirty="0"/>
              <a:t>A HashMap does not normally search every entry from beginning to end. </a:t>
            </a:r>
          </a:p>
          <a:p>
            <a:pPr lvl="1"/>
            <a:r>
              <a:rPr lang="en-US" dirty="0"/>
              <a:t>It uses the key’s </a:t>
            </a:r>
            <a:r>
              <a:rPr lang="en-US" b="1" dirty="0"/>
              <a:t>hash code</a:t>
            </a:r>
            <a:r>
              <a:rPr lang="en-US" dirty="0"/>
              <a:t> to narrow down where to look. </a:t>
            </a:r>
          </a:p>
          <a:p>
            <a:pPr lvl="1"/>
            <a:r>
              <a:rPr lang="en-US" dirty="0"/>
              <a:t>This makes lookup typically fast.</a:t>
            </a:r>
          </a:p>
        </p:txBody>
      </p:sp>
    </p:spTree>
    <p:extLst>
      <p:ext uri="{BB962C8B-B14F-4D97-AF65-F5344CB8AC3E}">
        <p14:creationId xmlns:p14="http://schemas.microsoft.com/office/powerpoint/2010/main" val="2012483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9A72E-D434-60C2-45DE-627B34769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92EE5-9F7A-0D5B-D0C6-B79E22072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S102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 → </a:t>
            </a:r>
            <a:r>
              <a:rPr lang="en-US" sz="24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hashCode</a:t>
            </a:r>
            <a:r>
              <a:rPr lang="en-US" sz="24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→ choose a location → find the entry → 92</a:t>
            </a:r>
          </a:p>
          <a:p>
            <a:pPr lvl="1"/>
            <a:r>
              <a:rPr lang="en-US" sz="2400" dirty="0"/>
              <a:t>Hash codes do </a:t>
            </a:r>
            <a:r>
              <a:rPr lang="en-US" sz="2400" b="1" dirty="0"/>
              <a:t>not</a:t>
            </a:r>
            <a:r>
              <a:rPr lang="en-US" sz="2400" dirty="0"/>
              <a:t> have to be unique. </a:t>
            </a:r>
          </a:p>
          <a:p>
            <a:pPr lvl="1"/>
            <a:r>
              <a:rPr lang="en-US" sz="2400" dirty="0"/>
              <a:t>Two different keys can lead to the same location. That is a </a:t>
            </a:r>
            <a:r>
              <a:rPr lang="en-US" sz="2400" b="1" dirty="0"/>
              <a:t>collision</a:t>
            </a:r>
            <a:r>
              <a:rPr lang="en-US" sz="2400" dirty="0"/>
              <a:t>. The map then checks which key actually matches using equals.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 A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──┐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|── same location → compare keys with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equals()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Key B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──┘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399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BAB2A-5AC2-F72C-C8ED-AB1B2B40A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B65CC-0C0C-E85E-5BEF-F7422BA4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collision </a:t>
            </a:r>
            <a:r>
              <a:rPr lang="en-US" dirty="0"/>
              <a:t>does not mean that one key overwrites the other. </a:t>
            </a:r>
          </a:p>
          <a:p>
            <a:endParaRPr lang="en-US" dirty="0"/>
          </a:p>
          <a:p>
            <a:r>
              <a:rPr lang="en-US" dirty="0"/>
              <a:t>A HashMap can retain both distinct keys.</a:t>
            </a:r>
          </a:p>
        </p:txBody>
      </p:sp>
    </p:spTree>
    <p:extLst>
      <p:ext uri="{BB962C8B-B14F-4D97-AF65-F5344CB8AC3E}">
        <p14:creationId xmlns:p14="http://schemas.microsoft.com/office/powerpoint/2010/main" val="18821931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921C-8A2F-0270-B1CF-0EC65A63A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hashmap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060C7-7C4F-90E3-FABB-9CFC0368D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A HashMap stores values under keys. </a:t>
            </a:r>
          </a:p>
          <a:p>
            <a:endParaRPr lang="en-US" sz="2800" dirty="0"/>
          </a:p>
          <a:p>
            <a:r>
              <a:rPr lang="en-US" sz="2800" dirty="0"/>
              <a:t>When we call </a:t>
            </a:r>
            <a:r>
              <a:rPr lang="en-US" sz="2800" dirty="0">
                <a:solidFill>
                  <a:srgbClr val="0070C0"/>
                </a:solidFill>
              </a:rPr>
              <a:t>get(key)</a:t>
            </a:r>
            <a:r>
              <a:rPr lang="en-US" sz="2800" dirty="0"/>
              <a:t>, it uses the key’s </a:t>
            </a:r>
            <a:r>
              <a:rPr lang="en-US" sz="2800" b="1" dirty="0" err="1">
                <a:solidFill>
                  <a:srgbClr val="0432FF"/>
                </a:solidFill>
              </a:rPr>
              <a:t>hashCode</a:t>
            </a:r>
            <a:r>
              <a:rPr lang="en-US" sz="2800" b="1" dirty="0">
                <a:solidFill>
                  <a:srgbClr val="0432FF"/>
                </a:solidFill>
              </a:rPr>
              <a:t>()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800" dirty="0"/>
              <a:t>to narrow down where to search, then uses </a:t>
            </a:r>
            <a:r>
              <a:rPr lang="en-US" sz="2800" dirty="0">
                <a:solidFill>
                  <a:srgbClr val="0432FF"/>
                </a:solidFill>
              </a:rPr>
              <a:t>equals() </a:t>
            </a:r>
            <a:r>
              <a:rPr lang="en-US" sz="2800" dirty="0"/>
              <a:t>to identify the matching key. </a:t>
            </a:r>
          </a:p>
          <a:p>
            <a:pPr lvl="1"/>
            <a:r>
              <a:rPr lang="en-US" dirty="0"/>
              <a:t>Two different keys can have the same hash code, so a matching hash code alone does not mean the keys are equal.</a:t>
            </a:r>
          </a:p>
          <a:p>
            <a:endParaRPr lang="en-US" sz="2800" dirty="0"/>
          </a:p>
          <a:p>
            <a:r>
              <a:rPr lang="en-US" sz="2800" dirty="0"/>
              <a:t>If two keys are equal according to equals(), they </a:t>
            </a:r>
            <a:r>
              <a:rPr lang="en-US" sz="2800" b="1" dirty="0"/>
              <a:t>must</a:t>
            </a:r>
            <a:r>
              <a:rPr lang="en-US" sz="2800" dirty="0"/>
              <a:t> have the same hash code.</a:t>
            </a:r>
          </a:p>
        </p:txBody>
      </p:sp>
    </p:spTree>
    <p:extLst>
      <p:ext uri="{BB962C8B-B14F-4D97-AF65-F5344CB8AC3E}">
        <p14:creationId xmlns:p14="http://schemas.microsoft.com/office/powerpoint/2010/main" val="34197200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618520-B6C1-ADDA-30CA-C63F8FB288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4938" y="2987749"/>
            <a:ext cx="9613065" cy="1233114"/>
          </a:xfrm>
        </p:spPr>
        <p:txBody>
          <a:bodyPr>
            <a:normAutofit fontScale="90000"/>
          </a:bodyPr>
          <a:lstStyle/>
          <a:p>
            <a:r>
              <a:rPr lang="en-US" dirty="0"/>
              <a:t>Hash function</a:t>
            </a:r>
          </a:p>
        </p:txBody>
      </p:sp>
    </p:spTree>
    <p:extLst>
      <p:ext uri="{BB962C8B-B14F-4D97-AF65-F5344CB8AC3E}">
        <p14:creationId xmlns:p14="http://schemas.microsoft.com/office/powerpoint/2010/main" val="2041447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12DEB5-846C-EDE2-E5BE-6254575E4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Hash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CC0287-8714-0EB9-809F-8189878D87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</a:t>
                </a:r>
                <a:r>
                  <a:rPr lang="en-US" b="1" dirty="0"/>
                  <a:t>hash function</a:t>
                </a:r>
                <a:r>
                  <a:rPr lang="en-US" dirty="0"/>
                  <a:t> takes a key and produces a number that helps us decide where to store or look for it.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5CC0287-8714-0EB9-809F-8189878D8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2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2631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78C5318F-25AD-B1BC-2AE6-A7597ACA034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12889" y="5074607"/>
                <a:ext cx="11166223" cy="1068234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ℎ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itle 1">
                <a:extLst>
                  <a:ext uri="{FF2B5EF4-FFF2-40B4-BE49-F238E27FC236}">
                    <a16:creationId xmlns:a16="http://schemas.microsoft.com/office/drawing/2014/main" id="{78C5318F-25AD-B1BC-2AE6-A7597ACA03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12889" y="5074607"/>
                <a:ext cx="11166223" cy="1068234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182D0A-F945-C80D-147B-5B8A14C69FE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124342248"/>
              </p:ext>
            </p:extLst>
          </p:nvPr>
        </p:nvGraphicFramePr>
        <p:xfrm>
          <a:off x="718450" y="774791"/>
          <a:ext cx="10755102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4213">
                  <a:extLst>
                    <a:ext uri="{9D8B030D-6E8A-4147-A177-3AD203B41FA5}">
                      <a16:colId xmlns:a16="http://schemas.microsoft.com/office/drawing/2014/main" val="2197947763"/>
                    </a:ext>
                  </a:extLst>
                </a:gridCol>
                <a:gridCol w="4621465">
                  <a:extLst>
                    <a:ext uri="{9D8B030D-6E8A-4147-A177-3AD203B41FA5}">
                      <a16:colId xmlns:a16="http://schemas.microsoft.com/office/drawing/2014/main" val="2170390147"/>
                    </a:ext>
                  </a:extLst>
                </a:gridCol>
                <a:gridCol w="2919424">
                  <a:extLst>
                    <a:ext uri="{9D8B030D-6E8A-4147-A177-3AD203B41FA5}">
                      <a16:colId xmlns:a16="http://schemas.microsoft.com/office/drawing/2014/main" val="37787614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 dirty="0"/>
                        <a:t>Key (x)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 dirty="0"/>
                        <a:t>(x mod 5)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Bucket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123820964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12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2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2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406529167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 dirty="0"/>
                        <a:t>27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2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2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259845325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31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1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910521048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45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/>
                        <a:t>0</a:t>
                      </a:r>
                    </a:p>
                  </a:txBody>
                  <a:tcPr marL="167640" marR="167640" marT="83820" marB="8382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3300" dirty="0"/>
                        <a:t>0</a:t>
                      </a:r>
                    </a:p>
                  </a:txBody>
                  <a:tcPr marL="167640" marR="167640" marT="83820" marB="83820" anchor="ctr"/>
                </a:tc>
                <a:extLst>
                  <a:ext uri="{0D108BD9-81ED-4DB2-BD59-A6C34878D82A}">
                    <a16:rowId xmlns:a16="http://schemas.microsoft.com/office/drawing/2014/main" val="3294253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357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AA77-8B3A-762F-23F8-58ACE208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D4FD3-F957-AB9B-BC69-1E7843D725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7200" dirty="0"/>
              <a:t>Resolve collision?</a:t>
            </a:r>
          </a:p>
        </p:txBody>
      </p:sp>
    </p:spTree>
    <p:extLst>
      <p:ext uri="{BB962C8B-B14F-4D97-AF65-F5344CB8AC3E}">
        <p14:creationId xmlns:p14="http://schemas.microsoft.com/office/powerpoint/2010/main" val="3876638388"/>
      </p:ext>
    </p:extLst>
  </p:cSld>
  <p:clrMapOvr>
    <a:masterClrMapping/>
  </p:clrMapOvr>
</p:sld>
</file>

<file path=ppt/theme/theme1.xml><?xml version="1.0" encoding="utf-8"?>
<a:theme xmlns:a="http://schemas.openxmlformats.org/drawingml/2006/main" name="Lines">
  <a:themeElements>
    <a:clrScheme name="Lines">
      <a:dk1>
        <a:srgbClr val="0F0F0F"/>
      </a:dk1>
      <a:lt1>
        <a:sysClr val="window" lastClr="FFFFFF"/>
      </a:lt1>
      <a:dk2>
        <a:srgbClr val="0A242A"/>
      </a:dk2>
      <a:lt2>
        <a:srgbClr val="F5F2ED"/>
      </a:lt2>
      <a:accent1>
        <a:srgbClr val="E45730"/>
      </a:accent1>
      <a:accent2>
        <a:srgbClr val="27717D"/>
      </a:accent2>
      <a:accent3>
        <a:srgbClr val="8CA8B5"/>
      </a:accent3>
      <a:accent4>
        <a:srgbClr val="607381"/>
      </a:accent4>
      <a:accent5>
        <a:srgbClr val="A39990"/>
      </a:accent5>
      <a:accent6>
        <a:srgbClr val="BA3106"/>
      </a:accent6>
      <a:hlink>
        <a:srgbClr val="E45730"/>
      </a:hlink>
      <a:folHlink>
        <a:srgbClr val="24717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ines" id="{73C0D9B4-D252-4142-B71F-89E39AB3FA27}" vid="{AF756BC4-928A-4ACB-8AC0-2FBFD00AF4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Lines</Template>
  <TotalTime>267</TotalTime>
  <Words>467</Words>
  <Application>Microsoft Macintosh PowerPoint</Application>
  <PresentationFormat>Widescreen</PresentationFormat>
  <Paragraphs>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Courier New</vt:lpstr>
      <vt:lpstr>Lines</vt:lpstr>
      <vt:lpstr>CSC 220 maps and hash maps</vt:lpstr>
      <vt:lpstr>Case 01: Student Records</vt:lpstr>
      <vt:lpstr>use cases</vt:lpstr>
      <vt:lpstr>Map: the abstract idea</vt:lpstr>
      <vt:lpstr>Map: the abstract idea</vt:lpstr>
      <vt:lpstr> Hashmap   A specific, high-performance implementation of map</vt:lpstr>
      <vt:lpstr>MAP &amp; hashmap in java</vt:lpstr>
      <vt:lpstr>HASH</vt:lpstr>
      <vt:lpstr>HASH</vt:lpstr>
      <vt:lpstr>HASH</vt:lpstr>
      <vt:lpstr>hashmap</vt:lpstr>
      <vt:lpstr>Hash function</vt:lpstr>
      <vt:lpstr>Hash function</vt:lpstr>
      <vt:lpstr>h(x)=x mod 5</vt:lpstr>
      <vt:lpstr>Next topic…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Fahmida Hamid</dc:creator>
  <cp:lastModifiedBy>Fahmida Hamid</cp:lastModifiedBy>
  <cp:revision>13</cp:revision>
  <dcterms:created xsi:type="dcterms:W3CDTF">2026-09-29T03:15:22Z</dcterms:created>
  <dcterms:modified xsi:type="dcterms:W3CDTF">2026-09-29T19:40:55Z</dcterms:modified>
</cp:coreProperties>
</file>